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8288000" cy="10287000"/>
  <p:notesSz cx="10287000" cy="18288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5760"/>
        <p:guide pos="324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627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5545565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31281859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4046691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1892612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123294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1571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25642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66485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31531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18393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252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83823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5449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62291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79813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06898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808050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812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77827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22430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223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07464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25343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5047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22408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5101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0190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3744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17329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337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19069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70244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2724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66266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50987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5673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30440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94597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8080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1138259" name="Shape 0"/>
          <p:cNvSpPr/>
          <p:nvPr/>
        </p:nvSpPr>
        <p:spPr bwMode="auto">
          <a:xfrm>
            <a:off x="12320867" y="-1706879"/>
            <a:ext cx="7620000" cy="7620000"/>
          </a:xfrm>
          <a:prstGeom prst="ellipse">
            <a:avLst/>
          </a:prstGeom>
          <a:solidFill>
            <a:srgbClr val="C9A255">
              <a:alpha val="5000"/>
            </a:srgbClr>
          </a:solidFill>
          <a:ln/>
        </p:spPr>
      </p:sp>
      <p:sp>
        <p:nvSpPr>
          <p:cNvPr id="540148091" name="Shape 1"/>
          <p:cNvSpPr/>
          <p:nvPr/>
        </p:nvSpPr>
        <p:spPr bwMode="auto">
          <a:xfrm>
            <a:off x="-1428750" y="6000750"/>
            <a:ext cx="5715000" cy="5715000"/>
          </a:xfrm>
          <a:prstGeom prst="ellipse">
            <a:avLst/>
          </a:prstGeom>
          <a:solidFill>
            <a:srgbClr val="C9A255">
              <a:alpha val="3999"/>
            </a:srgbClr>
          </a:solidFill>
          <a:ln/>
        </p:spPr>
      </p:sp>
      <p:sp>
        <p:nvSpPr>
          <p:cNvPr id="297551864" name="Text 2"/>
          <p:cNvSpPr/>
          <p:nvPr/>
        </p:nvSpPr>
        <p:spPr bwMode="auto">
          <a:xfrm flipH="0" flipV="0">
            <a:off x="1143000" y="857250"/>
            <a:ext cx="2500345" cy="403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400" b="1" spc="240">
                <a:solidFill>
                  <a:srgbClr val="C9A255"/>
                </a:solidFill>
                <a:latin typeface="Arial"/>
                <a:ea typeface="Arial"/>
                <a:cs typeface="Arial"/>
              </a:rPr>
              <a:t>Quickinglés</a:t>
            </a:r>
            <a:endParaRPr lang="en-US" sz="2400"/>
          </a:p>
        </p:txBody>
      </p:sp>
      <p:pic>
        <p:nvPicPr>
          <p:cNvPr id="207485509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tretch/>
        </p:blipFill>
        <p:spPr bwMode="auto">
          <a:xfrm>
            <a:off x="11811000" y="2762250"/>
            <a:ext cx="4762500" cy="4762500"/>
          </a:xfrm>
          <a:prstGeom prst="rect">
            <a:avLst/>
          </a:prstGeom>
        </p:spPr>
      </p:pic>
      <p:sp>
        <p:nvSpPr>
          <p:cNvPr id="1321791896" name="Text 4"/>
          <p:cNvSpPr/>
          <p:nvPr/>
        </p:nvSpPr>
        <p:spPr bwMode="auto">
          <a:xfrm>
            <a:off x="1143000" y="3329940"/>
            <a:ext cx="681172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450">
                <a:solidFill>
                  <a:srgbClr val="C9A255"/>
                </a:solidFill>
                <a:latin typeface="-apple-system"/>
                <a:ea typeface="-apple-system"/>
                <a:cs typeface="-apple-system"/>
              </a:rPr>
              <a:t>PROPUESTA SLP · EXALUMNOS</a:t>
            </a:r>
            <a:endParaRPr lang="en-US" sz="1800"/>
          </a:p>
        </p:txBody>
      </p:sp>
      <p:sp>
        <p:nvSpPr>
          <p:cNvPr id="1413295716" name="Text 5"/>
          <p:cNvSpPr/>
          <p:nvPr/>
        </p:nvSpPr>
        <p:spPr bwMode="auto">
          <a:xfrm>
            <a:off x="1143000" y="3855720"/>
            <a:ext cx="6811726" cy="2057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7950" spc="-159">
                <a:solidFill>
                  <a:srgbClr val="F5EDD8"/>
                </a:solidFill>
                <a:latin typeface="Arial"/>
                <a:ea typeface="Arial"/>
                <a:cs typeface="Arial"/>
              </a:rPr>
              <a:t>Preparación </a:t>
            </a:r>
            <a:r>
              <a:rPr lang="en-US" sz="7950" i="1" spc="-159">
                <a:solidFill>
                  <a:srgbClr val="DDB96A"/>
                </a:solidFill>
                <a:latin typeface="Arial"/>
                <a:ea typeface="Arial"/>
                <a:cs typeface="Arial"/>
              </a:rPr>
              <a:t>SLP</a:t>
            </a:r>
            <a:endParaRPr lang="en-US" sz="7950"/>
          </a:p>
        </p:txBody>
      </p:sp>
      <p:sp>
        <p:nvSpPr>
          <p:cNvPr id="1949353388" name="Text 6"/>
          <p:cNvSpPr/>
          <p:nvPr/>
        </p:nvSpPr>
        <p:spPr bwMode="auto">
          <a:xfrm>
            <a:off x="1143000" y="6596118"/>
            <a:ext cx="6811726" cy="1158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  <a:defRPr/>
            </a:pPr>
            <a:r>
              <a:rPr lang="en-US" sz="3150" i="1">
                <a:solidFill>
                  <a:srgbClr val="F5EDD8">
                    <a:alpha val="55000"/>
                  </a:srgbClr>
                </a:solidFill>
                <a:latin typeface="Arial"/>
                <a:ea typeface="Arial"/>
                <a:cs typeface="Arial"/>
              </a:rPr>
              <a:t>12 semanas de estructura, práctica y seguimiento para entrevista, BORE writing</a:t>
            </a:r>
            <a:endParaRPr lang="en-US" sz="3150"/>
          </a:p>
        </p:txBody>
      </p:sp>
      <p:sp>
        <p:nvSpPr>
          <p:cNvPr id="564637240" name="Text 8"/>
          <p:cNvSpPr/>
          <p:nvPr/>
        </p:nvSpPr>
        <p:spPr bwMode="auto">
          <a:xfrm>
            <a:off x="1417320" y="9048750"/>
            <a:ext cx="519530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defRPr/>
            </a:pPr>
            <a:endParaRPr/>
          </a:p>
        </p:txBody>
      </p:sp>
      <p:sp>
        <p:nvSpPr>
          <p:cNvPr id="1124839783" name="Text 9"/>
          <p:cNvSpPr/>
          <p:nvPr/>
        </p:nvSpPr>
        <p:spPr bwMode="auto">
          <a:xfrm>
            <a:off x="15577781" y="9048750"/>
            <a:ext cx="164342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270">
                <a:solidFill>
                  <a:srgbClr val="C9A255">
                    <a:alpha val="40000"/>
                  </a:srgbClr>
                </a:solidFill>
                <a:latin typeface="-apple-system"/>
                <a:ea typeface="-apple-system"/>
                <a:cs typeface="-apple-system"/>
              </a:rPr>
              <a:t>ABRIL 2026</a:t>
            </a: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08080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8680498" name="Shape 0"/>
          <p:cNvSpPr/>
          <p:nvPr/>
        </p:nvSpPr>
        <p:spPr bwMode="auto">
          <a:xfrm>
            <a:off x="12573000" y="-1905000"/>
            <a:ext cx="7620000" cy="7620000"/>
          </a:xfrm>
          <a:prstGeom prst="ellipse">
            <a:avLst/>
          </a:prstGeom>
          <a:solidFill>
            <a:srgbClr val="C9A255">
              <a:alpha val="5000"/>
            </a:srgbClr>
          </a:solidFill>
          <a:ln/>
        </p:spPr>
      </p:sp>
      <p:sp>
        <p:nvSpPr>
          <p:cNvPr id="772080112" name="Text 1"/>
          <p:cNvSpPr/>
          <p:nvPr/>
        </p:nvSpPr>
        <p:spPr bwMode="auto">
          <a:xfrm>
            <a:off x="1143000" y="2625090"/>
            <a:ext cx="1648206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396">
                <a:solidFill>
                  <a:srgbClr val="C9A255"/>
                </a:solidFill>
                <a:latin typeface="Arial"/>
                <a:ea typeface="Arial"/>
                <a:cs typeface="Arial"/>
              </a:rPr>
              <a:t>PUNTO DE PARTIDA</a:t>
            </a:r>
            <a:endParaRPr lang="en-US" sz="1800"/>
          </a:p>
        </p:txBody>
      </p:sp>
      <p:sp>
        <p:nvSpPr>
          <p:cNvPr id="267999669" name="Shape 2"/>
          <p:cNvSpPr/>
          <p:nvPr/>
        </p:nvSpPr>
        <p:spPr bwMode="auto">
          <a:xfrm>
            <a:off x="1143000" y="3135630"/>
            <a:ext cx="609600" cy="19050"/>
          </a:xfrm>
          <a:prstGeom prst="rect">
            <a:avLst/>
          </a:prstGeom>
          <a:solidFill>
            <a:srgbClr val="C9A255"/>
          </a:solidFill>
          <a:ln/>
        </p:spPr>
      </p:sp>
      <p:sp>
        <p:nvSpPr>
          <p:cNvPr id="1520703911" name="Text 3"/>
          <p:cNvSpPr/>
          <p:nvPr/>
        </p:nvSpPr>
        <p:spPr bwMode="auto">
          <a:xfrm>
            <a:off x="1143000" y="3764280"/>
            <a:ext cx="12753975" cy="1527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999"/>
              </a:lnSpc>
              <a:buNone/>
              <a:defRPr/>
            </a:pPr>
            <a:r>
              <a:rPr lang="en-US" sz="5100">
                <a:solidFill>
                  <a:srgbClr val="F5EDD8"/>
                </a:solidFill>
                <a:latin typeface="Arial"/>
                <a:ea typeface="Arial"/>
                <a:cs typeface="Arial"/>
              </a:rPr>
              <a:t>Retomar la preparación con un </a:t>
            </a:r>
            <a:r>
              <a:rPr lang="en-US" sz="5100" i="1">
                <a:solidFill>
                  <a:srgbClr val="DDB96A"/>
                </a:solidFill>
                <a:latin typeface="Arial"/>
                <a:ea typeface="Arial"/>
                <a:cs typeface="Arial"/>
              </a:rPr>
              <a:t>camino claro</a:t>
            </a:r>
            <a:endParaRPr lang="en-US" sz="5100"/>
          </a:p>
        </p:txBody>
      </p:sp>
      <p:sp>
        <p:nvSpPr>
          <p:cNvPr id="1839971474" name="Text 4"/>
          <p:cNvSpPr/>
          <p:nvPr/>
        </p:nvSpPr>
        <p:spPr bwMode="auto">
          <a:xfrm>
            <a:off x="1143000" y="5711190"/>
            <a:ext cx="8829675" cy="1988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  <a:defRPr/>
            </a:pPr>
            <a:r>
              <a:rPr lang="en-US" sz="240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Esta propuesta está pensada para alumnos que quieren preparar el SLP con </a:t>
            </a:r>
            <a:r>
              <a:rPr lang="en-US" sz="2400">
                <a:solidFill>
                  <a:srgbClr val="F5EDD8"/>
                </a:solidFill>
                <a:latin typeface="-apple-system"/>
                <a:ea typeface="-apple-system"/>
                <a:cs typeface="-apple-system"/>
              </a:rPr>
              <a:t>más estructura, práctica semanal y seguimiento </a:t>
            </a:r>
            <a:r>
              <a:rPr lang="en-US" sz="240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, sin perder flexibilidad.</a:t>
            </a:r>
            <a:endParaRPr lang="en-US" sz="2400"/>
          </a:p>
        </p:txBody>
      </p:sp>
      <p:pic>
        <p:nvPicPr>
          <p:cNvPr id="1687423066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tretch/>
        </p:blipFill>
        <p:spPr bwMode="auto">
          <a:xfrm>
            <a:off x="13335000" y="5524500"/>
            <a:ext cx="4000500" cy="4000500"/>
          </a:xfrm>
          <a:prstGeom prst="rect">
            <a:avLst/>
          </a:prstGeom>
        </p:spPr>
      </p:pic>
      <p:sp>
        <p:nvSpPr>
          <p:cNvPr id="78191479" name="Text 5"/>
          <p:cNvSpPr/>
          <p:nvPr/>
        </p:nvSpPr>
        <p:spPr bwMode="auto">
          <a:xfrm>
            <a:off x="1143000" y="9646920"/>
            <a:ext cx="209133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324">
                <a:solidFill>
                  <a:srgbClr val="C9A255">
                    <a:alpha val="50000"/>
                  </a:srgbClr>
                </a:solidFill>
                <a:latin typeface="-apple-system"/>
                <a:ea typeface="-apple-system"/>
                <a:cs typeface="-apple-system"/>
              </a:rPr>
              <a:t>QUICKINGLÉS</a:t>
            </a:r>
            <a:endParaRPr lang="en-US" sz="1800"/>
          </a:p>
        </p:txBody>
      </p:sp>
      <p:sp>
        <p:nvSpPr>
          <p:cNvPr id="1987811055" name="Text 6"/>
          <p:cNvSpPr/>
          <p:nvPr/>
        </p:nvSpPr>
        <p:spPr bwMode="auto">
          <a:xfrm>
            <a:off x="14912340" y="9646920"/>
            <a:ext cx="23088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216">
                <a:solidFill>
                  <a:srgbClr val="F5EDD8">
                    <a:alpha val="20000"/>
                  </a:srgbClr>
                </a:solidFill>
                <a:latin typeface="-apple-system"/>
                <a:ea typeface="-apple-system"/>
                <a:cs typeface="-apple-system"/>
              </a:rPr>
              <a:t>PROPUESTA SLP</a:t>
            </a: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08080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292988" name="Text 0"/>
          <p:cNvSpPr/>
          <p:nvPr/>
        </p:nvSpPr>
        <p:spPr bwMode="auto">
          <a:xfrm>
            <a:off x="1143000" y="857250"/>
            <a:ext cx="1648206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396">
                <a:solidFill>
                  <a:srgbClr val="C9A255"/>
                </a:solidFill>
                <a:latin typeface="Arial"/>
                <a:ea typeface="Arial"/>
                <a:cs typeface="Arial"/>
              </a:rPr>
              <a:t>CONTENIDO DEL PROGRAMA</a:t>
            </a:r>
            <a:endParaRPr lang="en-US" sz="1800"/>
          </a:p>
        </p:txBody>
      </p:sp>
      <p:sp>
        <p:nvSpPr>
          <p:cNvPr id="578724763" name="Text 1"/>
          <p:cNvSpPr/>
          <p:nvPr/>
        </p:nvSpPr>
        <p:spPr bwMode="auto">
          <a:xfrm>
            <a:off x="1143000" y="1367790"/>
            <a:ext cx="1648206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4350">
                <a:solidFill>
                  <a:srgbClr val="F5EDD8"/>
                </a:solidFill>
                <a:latin typeface="Arial"/>
                <a:ea typeface="Arial"/>
                <a:cs typeface="Arial"/>
              </a:rPr>
              <a:t>Una preparación centrada en lo que más pesa</a:t>
            </a:r>
            <a:endParaRPr lang="en-US" sz="4350"/>
          </a:p>
        </p:txBody>
      </p:sp>
      <p:sp>
        <p:nvSpPr>
          <p:cNvPr id="26874256" name="Shape 2"/>
          <p:cNvSpPr/>
          <p:nvPr/>
        </p:nvSpPr>
        <p:spPr bwMode="auto">
          <a:xfrm>
            <a:off x="1143000" y="2432685"/>
            <a:ext cx="5181600" cy="3563779"/>
          </a:xfrm>
          <a:prstGeom prst="rect">
            <a:avLst/>
          </a:prstGeom>
          <a:solidFill>
            <a:srgbClr val="C9A255">
              <a:alpha val="7000"/>
            </a:srgbClr>
          </a:solidFill>
          <a:ln w="7620">
            <a:solidFill>
              <a:srgbClr val="C9A255"/>
            </a:solidFill>
            <a:prstDash val="solid"/>
          </a:ln>
        </p:spPr>
      </p:sp>
      <p:sp>
        <p:nvSpPr>
          <p:cNvPr id="1952484977" name="Text 3"/>
          <p:cNvSpPr/>
          <p:nvPr/>
        </p:nvSpPr>
        <p:spPr bwMode="auto">
          <a:xfrm>
            <a:off x="1493520" y="2821305"/>
            <a:ext cx="4614976" cy="43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2850">
                <a:solidFill>
                  <a:srgbClr val="DDB96A"/>
                </a:solidFill>
                <a:latin typeface="Arial"/>
                <a:ea typeface="Arial"/>
                <a:cs typeface="Arial"/>
              </a:rPr>
              <a:t>Entrevista SLP</a:t>
            </a:r>
            <a:endParaRPr lang="en-US" sz="2850"/>
          </a:p>
        </p:txBody>
      </p:sp>
      <p:sp>
        <p:nvSpPr>
          <p:cNvPr id="1824863587" name="Text 4"/>
          <p:cNvSpPr/>
          <p:nvPr/>
        </p:nvSpPr>
        <p:spPr bwMode="auto">
          <a:xfrm>
            <a:off x="1493520" y="3371850"/>
            <a:ext cx="4614976" cy="111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Foco principal en clase. Estructura, respuestas y simulacros de entrevista oral.</a:t>
            </a:r>
            <a:endParaRPr lang="en-US" sz="1950"/>
          </a:p>
        </p:txBody>
      </p:sp>
      <p:sp>
        <p:nvSpPr>
          <p:cNvPr id="355255359" name="Shape 5"/>
          <p:cNvSpPr/>
          <p:nvPr/>
        </p:nvSpPr>
        <p:spPr bwMode="auto">
          <a:xfrm>
            <a:off x="6553200" y="2432685"/>
            <a:ext cx="5181600" cy="3563779"/>
          </a:xfrm>
          <a:prstGeom prst="rect">
            <a:avLst/>
          </a:prstGeom>
          <a:solidFill>
            <a:srgbClr val="C9A255">
              <a:alpha val="7000"/>
            </a:srgbClr>
          </a:solidFill>
          <a:ln w="7620">
            <a:solidFill>
              <a:srgbClr val="C9A255"/>
            </a:solidFill>
            <a:prstDash val="solid"/>
          </a:ln>
        </p:spPr>
      </p:sp>
      <p:sp>
        <p:nvSpPr>
          <p:cNvPr id="1510684927" name="Text 6"/>
          <p:cNvSpPr/>
          <p:nvPr/>
        </p:nvSpPr>
        <p:spPr bwMode="auto">
          <a:xfrm>
            <a:off x="6903720" y="2821305"/>
            <a:ext cx="4614976" cy="43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2850">
                <a:solidFill>
                  <a:srgbClr val="DDB96A"/>
                </a:solidFill>
                <a:latin typeface="Arial"/>
                <a:ea typeface="Arial"/>
                <a:cs typeface="Arial"/>
              </a:rPr>
              <a:t>BORE</a:t>
            </a:r>
            <a:endParaRPr lang="en-US" sz="2850"/>
          </a:p>
        </p:txBody>
      </p:sp>
      <p:sp>
        <p:nvSpPr>
          <p:cNvPr id="1477344364" name="Text 7"/>
          <p:cNvSpPr/>
          <p:nvPr/>
        </p:nvSpPr>
        <p:spPr bwMode="auto">
          <a:xfrm>
            <a:off x="6903720" y="3371850"/>
            <a:ext cx="4614976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Práctica directa y corrección dentro de las sesiones semanales.</a:t>
            </a:r>
            <a:endParaRPr lang="en-US" sz="1950"/>
          </a:p>
        </p:txBody>
      </p:sp>
      <p:sp>
        <p:nvSpPr>
          <p:cNvPr id="1233762375" name="Shape 8"/>
          <p:cNvSpPr/>
          <p:nvPr/>
        </p:nvSpPr>
        <p:spPr bwMode="auto">
          <a:xfrm>
            <a:off x="11963400" y="2432685"/>
            <a:ext cx="5181600" cy="3563779"/>
          </a:xfrm>
          <a:prstGeom prst="rect">
            <a:avLst/>
          </a:prstGeom>
          <a:solidFill>
            <a:srgbClr val="C9A255">
              <a:alpha val="7000"/>
            </a:srgbClr>
          </a:solidFill>
          <a:ln w="7620">
            <a:solidFill>
              <a:srgbClr val="C9A255"/>
            </a:solidFill>
            <a:prstDash val="solid"/>
          </a:ln>
        </p:spPr>
      </p:sp>
      <p:sp>
        <p:nvSpPr>
          <p:cNvPr id="1658072755" name="Text 9"/>
          <p:cNvSpPr/>
          <p:nvPr/>
        </p:nvSpPr>
        <p:spPr bwMode="auto">
          <a:xfrm>
            <a:off x="12313920" y="2821305"/>
            <a:ext cx="4614976" cy="43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2850">
                <a:solidFill>
                  <a:srgbClr val="DDB96A"/>
                </a:solidFill>
                <a:latin typeface="Arial"/>
                <a:ea typeface="Arial"/>
                <a:cs typeface="Arial"/>
              </a:rPr>
              <a:t>Speaking</a:t>
            </a:r>
            <a:endParaRPr lang="en-US" sz="2850"/>
          </a:p>
        </p:txBody>
      </p:sp>
      <p:sp>
        <p:nvSpPr>
          <p:cNvPr id="995131736" name="Text 10"/>
          <p:cNvSpPr/>
          <p:nvPr/>
        </p:nvSpPr>
        <p:spPr bwMode="auto">
          <a:xfrm>
            <a:off x="12313920" y="3371850"/>
            <a:ext cx="4614976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Producción oral guiada, estructurada y corregida en clase cada semana.</a:t>
            </a:r>
            <a:endParaRPr lang="en-US" sz="1950"/>
          </a:p>
        </p:txBody>
      </p:sp>
      <p:sp>
        <p:nvSpPr>
          <p:cNvPr id="1433262415" name="Shape 11"/>
          <p:cNvSpPr/>
          <p:nvPr/>
        </p:nvSpPr>
        <p:spPr bwMode="auto">
          <a:xfrm>
            <a:off x="1143000" y="6225064"/>
            <a:ext cx="5181600" cy="3204686"/>
          </a:xfrm>
          <a:prstGeom prst="rect">
            <a:avLst/>
          </a:prstGeom>
          <a:solidFill>
            <a:srgbClr val="F5EDD8">
              <a:alpha val="15000"/>
            </a:srgbClr>
          </a:solidFill>
          <a:ln w="7620">
            <a:solidFill>
              <a:srgbClr val="C9A255">
                <a:alpha val="35000"/>
              </a:srgbClr>
            </a:solidFill>
            <a:prstDash val="solid"/>
          </a:ln>
        </p:spPr>
      </p:sp>
      <p:sp>
        <p:nvSpPr>
          <p:cNvPr id="520817574" name="Text 12"/>
          <p:cNvSpPr/>
          <p:nvPr/>
        </p:nvSpPr>
        <p:spPr bwMode="auto">
          <a:xfrm>
            <a:off x="1493520" y="6613684"/>
            <a:ext cx="4614976" cy="43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2850">
                <a:solidFill>
                  <a:srgbClr val="F5EDD8"/>
                </a:solidFill>
                <a:latin typeface="Arial"/>
                <a:ea typeface="Arial"/>
                <a:cs typeface="Arial"/>
              </a:rPr>
              <a:t>Writing semanal</a:t>
            </a:r>
            <a:endParaRPr lang="en-US" sz="2850"/>
          </a:p>
        </p:txBody>
      </p:sp>
      <p:sp>
        <p:nvSpPr>
          <p:cNvPr id="1540327129" name="Text 13"/>
          <p:cNvSpPr/>
          <p:nvPr/>
        </p:nvSpPr>
        <p:spPr bwMode="auto">
          <a:xfrm>
            <a:off x="1493520" y="7164229"/>
            <a:ext cx="4614976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Trabajo escrito con feedback y mejora guiada cada semana.</a:t>
            </a:r>
            <a:endParaRPr lang="en-US" sz="1950"/>
          </a:p>
        </p:txBody>
      </p:sp>
      <p:sp>
        <p:nvSpPr>
          <p:cNvPr id="411132329" name="Shape 14"/>
          <p:cNvSpPr/>
          <p:nvPr/>
        </p:nvSpPr>
        <p:spPr bwMode="auto">
          <a:xfrm>
            <a:off x="6553200" y="6225064"/>
            <a:ext cx="5181600" cy="3204686"/>
          </a:xfrm>
          <a:prstGeom prst="rect">
            <a:avLst/>
          </a:prstGeom>
          <a:solidFill>
            <a:srgbClr val="F5EDD8">
              <a:alpha val="15000"/>
            </a:srgbClr>
          </a:solidFill>
          <a:ln w="7620">
            <a:solidFill>
              <a:srgbClr val="C9A255">
                <a:alpha val="35000"/>
              </a:srgbClr>
            </a:solidFill>
            <a:prstDash val="solid"/>
          </a:ln>
        </p:spPr>
      </p:sp>
      <p:sp>
        <p:nvSpPr>
          <p:cNvPr id="1483387965" name="Text 15"/>
          <p:cNvSpPr/>
          <p:nvPr/>
        </p:nvSpPr>
        <p:spPr bwMode="auto">
          <a:xfrm>
            <a:off x="6903720" y="6613684"/>
            <a:ext cx="4614976" cy="43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2850">
                <a:solidFill>
                  <a:srgbClr val="F5EDD8"/>
                </a:solidFill>
                <a:latin typeface="Arial"/>
                <a:ea typeface="Arial"/>
                <a:cs typeface="Arial"/>
              </a:rPr>
              <a:t>Reading &amp; Listening</a:t>
            </a:r>
            <a:endParaRPr lang="en-US" sz="2850"/>
          </a:p>
        </p:txBody>
      </p:sp>
      <p:sp>
        <p:nvSpPr>
          <p:cNvPr id="318004418" name="Text 16"/>
          <p:cNvSpPr/>
          <p:nvPr/>
        </p:nvSpPr>
        <p:spPr bwMode="auto">
          <a:xfrm>
            <a:off x="6903720" y="7164229"/>
            <a:ext cx="4614976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Materiales organizados en Notion para practicar entre clases.</a:t>
            </a:r>
            <a:endParaRPr lang="en-US" sz="1950"/>
          </a:p>
        </p:txBody>
      </p:sp>
      <p:sp>
        <p:nvSpPr>
          <p:cNvPr id="210341856" name="Shape 17"/>
          <p:cNvSpPr/>
          <p:nvPr/>
        </p:nvSpPr>
        <p:spPr bwMode="auto">
          <a:xfrm>
            <a:off x="11963400" y="6225064"/>
            <a:ext cx="5181600" cy="3204686"/>
          </a:xfrm>
          <a:prstGeom prst="rect">
            <a:avLst/>
          </a:prstGeom>
          <a:solidFill>
            <a:srgbClr val="F5EDD8">
              <a:alpha val="15000"/>
            </a:srgbClr>
          </a:solidFill>
          <a:ln w="7620">
            <a:solidFill>
              <a:srgbClr val="C9A255">
                <a:alpha val="35000"/>
              </a:srgbClr>
            </a:solidFill>
            <a:prstDash val="solid"/>
          </a:ln>
        </p:spPr>
      </p:sp>
      <p:sp>
        <p:nvSpPr>
          <p:cNvPr id="610204782" name="Text 18"/>
          <p:cNvSpPr/>
          <p:nvPr/>
        </p:nvSpPr>
        <p:spPr bwMode="auto">
          <a:xfrm>
            <a:off x="12313920" y="6613684"/>
            <a:ext cx="4614976" cy="43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2850">
                <a:solidFill>
                  <a:srgbClr val="F5EDD8"/>
                </a:solidFill>
                <a:latin typeface="Arial"/>
                <a:ea typeface="Arial"/>
                <a:cs typeface="Arial"/>
              </a:rPr>
              <a:t>Vocabulario</a:t>
            </a:r>
            <a:endParaRPr lang="en-US" sz="2850"/>
          </a:p>
        </p:txBody>
      </p:sp>
      <p:sp>
        <p:nvSpPr>
          <p:cNvPr id="295353500" name="Text 19"/>
          <p:cNvSpPr/>
          <p:nvPr/>
        </p:nvSpPr>
        <p:spPr bwMode="auto">
          <a:xfrm>
            <a:off x="12313920" y="7164229"/>
            <a:ext cx="4614976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Léxico militar y profesional integrado en los recursos de Notion.</a:t>
            </a:r>
            <a:endParaRPr lang="en-US" sz="1950"/>
          </a:p>
        </p:txBody>
      </p:sp>
      <p:sp>
        <p:nvSpPr>
          <p:cNvPr id="36202424" name="Text 20"/>
          <p:cNvSpPr/>
          <p:nvPr/>
        </p:nvSpPr>
        <p:spPr bwMode="auto">
          <a:xfrm>
            <a:off x="1143000" y="9646920"/>
            <a:ext cx="209133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324">
                <a:solidFill>
                  <a:srgbClr val="C9A255">
                    <a:alpha val="50000"/>
                  </a:srgbClr>
                </a:solidFill>
                <a:latin typeface="-apple-system"/>
                <a:ea typeface="-apple-system"/>
                <a:cs typeface="-apple-system"/>
              </a:rPr>
              <a:t>QUICKINGLÉS</a:t>
            </a:r>
            <a:endParaRPr lang="en-US" sz="1800"/>
          </a:p>
        </p:txBody>
      </p:sp>
      <p:sp>
        <p:nvSpPr>
          <p:cNvPr id="1552654568" name="Text 21"/>
          <p:cNvSpPr/>
          <p:nvPr/>
        </p:nvSpPr>
        <p:spPr bwMode="auto">
          <a:xfrm>
            <a:off x="14912340" y="9646920"/>
            <a:ext cx="23088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216">
                <a:solidFill>
                  <a:srgbClr val="F5EDD8">
                    <a:alpha val="20000"/>
                  </a:srgbClr>
                </a:solidFill>
                <a:latin typeface="-apple-system"/>
                <a:ea typeface="-apple-system"/>
                <a:cs typeface="-apple-system"/>
              </a:rPr>
              <a:t>PROPUESTA SLP</a:t>
            </a: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08080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316113" name="Shape 0"/>
          <p:cNvSpPr/>
          <p:nvPr/>
        </p:nvSpPr>
        <p:spPr bwMode="auto">
          <a:xfrm>
            <a:off x="12573000" y="-1905000"/>
            <a:ext cx="7620000" cy="7620000"/>
          </a:xfrm>
          <a:prstGeom prst="ellipse">
            <a:avLst/>
          </a:prstGeom>
          <a:solidFill>
            <a:srgbClr val="C9A255">
              <a:alpha val="5000"/>
            </a:srgbClr>
          </a:solidFill>
          <a:ln/>
        </p:spPr>
      </p:sp>
      <p:sp>
        <p:nvSpPr>
          <p:cNvPr id="1114492556" name="Text 1"/>
          <p:cNvSpPr/>
          <p:nvPr/>
        </p:nvSpPr>
        <p:spPr bwMode="auto">
          <a:xfrm>
            <a:off x="1143000" y="857250"/>
            <a:ext cx="1648206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396">
                <a:solidFill>
                  <a:srgbClr val="C9A255"/>
                </a:solidFill>
                <a:latin typeface="Arial"/>
                <a:ea typeface="Arial"/>
                <a:cs typeface="Arial"/>
              </a:rPr>
              <a:t>ELIGE TU FORMATO</a:t>
            </a:r>
            <a:endParaRPr lang="en-US" sz="1800"/>
          </a:p>
        </p:txBody>
      </p:sp>
      <p:sp>
        <p:nvSpPr>
          <p:cNvPr id="292591032" name="Text 2"/>
          <p:cNvSpPr/>
          <p:nvPr/>
        </p:nvSpPr>
        <p:spPr bwMode="auto">
          <a:xfrm>
            <a:off x="1143000" y="1367790"/>
            <a:ext cx="1648206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4350">
                <a:solidFill>
                  <a:srgbClr val="F5EDD8"/>
                </a:solidFill>
                <a:latin typeface="Arial"/>
                <a:ea typeface="Arial"/>
                <a:cs typeface="Arial"/>
              </a:rPr>
              <a:t>Dos opciones. Un mismo objetivo.</a:t>
            </a:r>
            <a:endParaRPr lang="en-US" sz="4350"/>
          </a:p>
        </p:txBody>
      </p:sp>
      <p:sp>
        <p:nvSpPr>
          <p:cNvPr id="805167134" name="Shape 3"/>
          <p:cNvSpPr/>
          <p:nvPr/>
        </p:nvSpPr>
        <p:spPr bwMode="auto">
          <a:xfrm>
            <a:off x="1143000" y="2508885"/>
            <a:ext cx="7810500" cy="6920865"/>
          </a:xfrm>
          <a:prstGeom prst="rect">
            <a:avLst/>
          </a:prstGeom>
          <a:ln w="7620">
            <a:solidFill>
              <a:srgbClr val="C9A255">
                <a:alpha val="35000"/>
              </a:srgbClr>
            </a:solidFill>
            <a:prstDash val="solid"/>
          </a:ln>
        </p:spPr>
      </p:sp>
      <p:sp>
        <p:nvSpPr>
          <p:cNvPr id="1901686269" name="Text 4"/>
          <p:cNvSpPr/>
          <p:nvPr/>
        </p:nvSpPr>
        <p:spPr bwMode="auto">
          <a:xfrm>
            <a:off x="1645920" y="3088005"/>
            <a:ext cx="70088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360">
                <a:solidFill>
                  <a:srgbClr val="C9A255"/>
                </a:solidFill>
                <a:latin typeface="-apple-system"/>
                <a:ea typeface="-apple-system"/>
                <a:cs typeface="-apple-system"/>
              </a:rPr>
              <a:t>OPCIÓN 01</a:t>
            </a:r>
            <a:endParaRPr lang="en-US" sz="1800"/>
          </a:p>
        </p:txBody>
      </p:sp>
      <p:sp>
        <p:nvSpPr>
          <p:cNvPr id="1855370725" name="Text 5"/>
          <p:cNvSpPr/>
          <p:nvPr/>
        </p:nvSpPr>
        <p:spPr bwMode="auto">
          <a:xfrm>
            <a:off x="1645920" y="3537585"/>
            <a:ext cx="7008800" cy="1158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  <a:defRPr/>
            </a:pPr>
            <a:r>
              <a:rPr lang="en-US" sz="4200">
                <a:solidFill>
                  <a:srgbClr val="F5EDD8"/>
                </a:solidFill>
                <a:latin typeface="Arial"/>
                <a:ea typeface="Arial"/>
                <a:cs typeface="Arial"/>
              </a:rPr>
              <a:t>Horas sueltas</a:t>
            </a:r>
            <a:endParaRPr lang="en-US" sz="4200"/>
          </a:p>
        </p:txBody>
      </p:sp>
      <p:sp>
        <p:nvSpPr>
          <p:cNvPr id="254943616" name="Text 6"/>
          <p:cNvSpPr/>
          <p:nvPr/>
        </p:nvSpPr>
        <p:spPr bwMode="auto">
          <a:xfrm>
            <a:off x="1645920" y="4962525"/>
            <a:ext cx="70088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Refuerzo puntual cuando lo necesitas. Sin compromiso de continuidad.</a:t>
            </a:r>
            <a:endParaRPr lang="en-US" sz="1950"/>
          </a:p>
        </p:txBody>
      </p:sp>
      <p:sp>
        <p:nvSpPr>
          <p:cNvPr id="1906879605" name="Shape 7"/>
          <p:cNvSpPr/>
          <p:nvPr/>
        </p:nvSpPr>
        <p:spPr bwMode="auto">
          <a:xfrm>
            <a:off x="1645920" y="8096250"/>
            <a:ext cx="6804660" cy="9525"/>
          </a:xfrm>
          <a:prstGeom prst="rect">
            <a:avLst/>
          </a:prstGeom>
          <a:solidFill>
            <a:srgbClr val="C9A255">
              <a:alpha val="35000"/>
            </a:srgbClr>
          </a:solidFill>
          <a:ln/>
        </p:spPr>
      </p:sp>
      <p:sp>
        <p:nvSpPr>
          <p:cNvPr id="802227475" name="Text 8"/>
          <p:cNvSpPr/>
          <p:nvPr/>
        </p:nvSpPr>
        <p:spPr bwMode="auto">
          <a:xfrm>
            <a:off x="1645920" y="8332470"/>
            <a:ext cx="7008800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27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PARA DUDAS CONCRETAS, PRÁCTICA PUNTUAL O APOYO ANTES DE UNA PRUEBA</a:t>
            </a:r>
            <a:endParaRPr lang="en-US" sz="1800"/>
          </a:p>
        </p:txBody>
      </p:sp>
      <p:sp>
        <p:nvSpPr>
          <p:cNvPr id="804116346" name="Shape 9"/>
          <p:cNvSpPr/>
          <p:nvPr/>
        </p:nvSpPr>
        <p:spPr bwMode="auto">
          <a:xfrm>
            <a:off x="9334500" y="2508885"/>
            <a:ext cx="7810500" cy="6920865"/>
          </a:xfrm>
          <a:prstGeom prst="rect">
            <a:avLst/>
          </a:prstGeom>
          <a:solidFill>
            <a:srgbClr val="C9A255">
              <a:alpha val="6000"/>
            </a:srgbClr>
          </a:solidFill>
          <a:ln w="7620">
            <a:solidFill>
              <a:srgbClr val="C9A255"/>
            </a:solidFill>
            <a:prstDash val="solid"/>
          </a:ln>
        </p:spPr>
      </p:sp>
      <p:sp>
        <p:nvSpPr>
          <p:cNvPr id="1309116993" name="Text 10"/>
          <p:cNvSpPr/>
          <p:nvPr/>
        </p:nvSpPr>
        <p:spPr bwMode="auto">
          <a:xfrm>
            <a:off x="9837420" y="3088005"/>
            <a:ext cx="70088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360">
                <a:solidFill>
                  <a:srgbClr val="C9A255"/>
                </a:solidFill>
                <a:latin typeface="-apple-system"/>
                <a:ea typeface="-apple-system"/>
                <a:cs typeface="-apple-system"/>
              </a:rPr>
              <a:t>OPCIÓN 02</a:t>
            </a:r>
            <a:endParaRPr lang="en-US" sz="1800"/>
          </a:p>
        </p:txBody>
      </p:sp>
      <p:sp>
        <p:nvSpPr>
          <p:cNvPr id="785450539" name="Text 11"/>
          <p:cNvSpPr/>
          <p:nvPr/>
        </p:nvSpPr>
        <p:spPr bwMode="auto">
          <a:xfrm>
            <a:off x="9837420" y="3537585"/>
            <a:ext cx="7008800" cy="1158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  <a:defRPr/>
            </a:pPr>
            <a:r>
              <a:rPr lang="en-US" sz="4200">
                <a:solidFill>
                  <a:srgbClr val="F5EDD8"/>
                </a:solidFill>
                <a:latin typeface="Arial"/>
                <a:ea typeface="Arial"/>
                <a:cs typeface="Arial"/>
              </a:rPr>
              <a:t>Programa SLP 12 semanas</a:t>
            </a:r>
            <a:endParaRPr lang="en-US" sz="4200"/>
          </a:p>
        </p:txBody>
      </p:sp>
      <p:sp>
        <p:nvSpPr>
          <p:cNvPr id="1287350687" name="Text 12"/>
          <p:cNvSpPr/>
          <p:nvPr/>
        </p:nvSpPr>
        <p:spPr bwMode="auto">
          <a:xfrm>
            <a:off x="9837420" y="4962525"/>
            <a:ext cx="70088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Preparación estructurada con clase semanal, writing, recursos y seguimiento general durante tres meses.</a:t>
            </a:r>
            <a:endParaRPr lang="en-US" sz="1950"/>
          </a:p>
        </p:txBody>
      </p:sp>
      <p:sp>
        <p:nvSpPr>
          <p:cNvPr id="917382083" name="Shape 13"/>
          <p:cNvSpPr/>
          <p:nvPr/>
        </p:nvSpPr>
        <p:spPr bwMode="auto">
          <a:xfrm>
            <a:off x="9837420" y="8096250"/>
            <a:ext cx="6804660" cy="9525"/>
          </a:xfrm>
          <a:prstGeom prst="rect">
            <a:avLst/>
          </a:prstGeom>
          <a:solidFill>
            <a:srgbClr val="C9A255">
              <a:alpha val="35000"/>
            </a:srgbClr>
          </a:solidFill>
          <a:ln/>
        </p:spPr>
      </p:sp>
      <p:sp>
        <p:nvSpPr>
          <p:cNvPr id="364586186" name="Text 14"/>
          <p:cNvSpPr/>
          <p:nvPr/>
        </p:nvSpPr>
        <p:spPr bwMode="auto">
          <a:xfrm>
            <a:off x="9837420" y="8332470"/>
            <a:ext cx="7008800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27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PARA QUIEN QUIERE LLEGAR PREPARADO A LA ENTREVISTA, EL BORE Y LA PARTE ESCRITA</a:t>
            </a:r>
            <a:endParaRPr lang="en-US" sz="1800"/>
          </a:p>
        </p:txBody>
      </p:sp>
      <p:sp>
        <p:nvSpPr>
          <p:cNvPr id="896066244" name="Text 15"/>
          <p:cNvSpPr/>
          <p:nvPr/>
        </p:nvSpPr>
        <p:spPr bwMode="auto">
          <a:xfrm>
            <a:off x="1143000" y="9646920"/>
            <a:ext cx="209133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324">
                <a:solidFill>
                  <a:srgbClr val="C9A255">
                    <a:alpha val="50000"/>
                  </a:srgbClr>
                </a:solidFill>
                <a:latin typeface="-apple-system"/>
                <a:ea typeface="-apple-system"/>
                <a:cs typeface="-apple-system"/>
              </a:rPr>
              <a:t>QUICKINGLÉS</a:t>
            </a:r>
            <a:endParaRPr lang="en-US" sz="1800"/>
          </a:p>
        </p:txBody>
      </p:sp>
      <p:sp>
        <p:nvSpPr>
          <p:cNvPr id="1556371335" name="Text 16"/>
          <p:cNvSpPr/>
          <p:nvPr/>
        </p:nvSpPr>
        <p:spPr bwMode="auto">
          <a:xfrm>
            <a:off x="14912340" y="9646920"/>
            <a:ext cx="23088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216">
                <a:solidFill>
                  <a:srgbClr val="F5EDD8">
                    <a:alpha val="20000"/>
                  </a:srgbClr>
                </a:solidFill>
                <a:latin typeface="-apple-system"/>
                <a:ea typeface="-apple-system"/>
                <a:cs typeface="-apple-system"/>
              </a:rPr>
              <a:t>PROPUESTA SLP</a:t>
            </a: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08080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155271" name="Shape 0"/>
          <p:cNvSpPr/>
          <p:nvPr/>
        </p:nvSpPr>
        <p:spPr bwMode="auto">
          <a:xfrm>
            <a:off x="12573000" y="-1905000"/>
            <a:ext cx="7620000" cy="7620000"/>
          </a:xfrm>
          <a:prstGeom prst="ellipse">
            <a:avLst/>
          </a:prstGeom>
          <a:solidFill>
            <a:srgbClr val="C9A255">
              <a:alpha val="5000"/>
            </a:srgbClr>
          </a:solidFill>
          <a:ln/>
        </p:spPr>
      </p:sp>
      <p:sp>
        <p:nvSpPr>
          <p:cNvPr id="669688439" name="Text 1"/>
          <p:cNvSpPr/>
          <p:nvPr/>
        </p:nvSpPr>
        <p:spPr bwMode="auto">
          <a:xfrm>
            <a:off x="1143000" y="857250"/>
            <a:ext cx="1648206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396">
                <a:solidFill>
                  <a:srgbClr val="C9A255"/>
                </a:solidFill>
                <a:latin typeface="Arial"/>
                <a:ea typeface="Arial"/>
                <a:cs typeface="Arial"/>
              </a:rPr>
              <a:t>OPCIÓN 01</a:t>
            </a:r>
            <a:endParaRPr lang="en-US" sz="1800"/>
          </a:p>
        </p:txBody>
      </p:sp>
      <p:sp>
        <p:nvSpPr>
          <p:cNvPr id="673862386" name="Text 2"/>
          <p:cNvSpPr/>
          <p:nvPr/>
        </p:nvSpPr>
        <p:spPr bwMode="auto">
          <a:xfrm>
            <a:off x="1143000" y="1367790"/>
            <a:ext cx="16482060" cy="1519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  <a:defRPr/>
            </a:pPr>
            <a:r>
              <a:rPr lang="en-US" sz="5400" spc="-54">
                <a:solidFill>
                  <a:srgbClr val="F5EDD8"/>
                </a:solidFill>
                <a:latin typeface="Arial"/>
                <a:ea typeface="Arial"/>
                <a:cs typeface="Arial"/>
              </a:rPr>
              <a:t>Refuerzo puntual cuando lo necesitas</a:t>
            </a:r>
            <a:endParaRPr lang="en-US" sz="5400"/>
          </a:p>
        </p:txBody>
      </p:sp>
      <p:sp>
        <p:nvSpPr>
          <p:cNvPr id="1092908805" name="Text 3"/>
          <p:cNvSpPr/>
          <p:nvPr/>
        </p:nvSpPr>
        <p:spPr bwMode="auto">
          <a:xfrm>
            <a:off x="1143000" y="3344228"/>
            <a:ext cx="7848600" cy="876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6600">
                <a:solidFill>
                  <a:srgbClr val="DDB96A"/>
                </a:solidFill>
                <a:latin typeface="Arial"/>
                <a:ea typeface="Arial"/>
                <a:cs typeface="Arial"/>
              </a:rPr>
              <a:t>20 €</a:t>
            </a:r>
            <a:endParaRPr lang="en-US" sz="6600"/>
          </a:p>
        </p:txBody>
      </p:sp>
      <p:sp>
        <p:nvSpPr>
          <p:cNvPr id="20004274" name="Text 4"/>
          <p:cNvSpPr/>
          <p:nvPr/>
        </p:nvSpPr>
        <p:spPr bwMode="auto">
          <a:xfrm>
            <a:off x="1143000" y="4522470"/>
            <a:ext cx="78486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324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POR HORA</a:t>
            </a:r>
            <a:endParaRPr lang="en-US" sz="1800"/>
          </a:p>
        </p:txBody>
      </p:sp>
      <p:sp>
        <p:nvSpPr>
          <p:cNvPr id="437018473" name="Shape 5"/>
          <p:cNvSpPr/>
          <p:nvPr/>
        </p:nvSpPr>
        <p:spPr bwMode="auto">
          <a:xfrm>
            <a:off x="1143000" y="4517708"/>
            <a:ext cx="7620000" cy="9525"/>
          </a:xfrm>
          <a:prstGeom prst="rect">
            <a:avLst/>
          </a:prstGeom>
          <a:solidFill>
            <a:srgbClr val="C9A255">
              <a:alpha val="35000"/>
            </a:srgbClr>
          </a:solidFill>
          <a:ln/>
        </p:spPr>
      </p:sp>
      <p:sp>
        <p:nvSpPr>
          <p:cNvPr id="1276005002" name="Text 6"/>
          <p:cNvSpPr/>
          <p:nvPr/>
        </p:nvSpPr>
        <p:spPr bwMode="auto">
          <a:xfrm>
            <a:off x="1143000" y="4868228"/>
            <a:ext cx="7848600" cy="4591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2550" i="1">
                <a:solidFill>
                  <a:srgbClr val="DDB96A"/>
                </a:solidFill>
                <a:latin typeface="Arial"/>
                <a:ea typeface="Arial"/>
                <a:cs typeface="Arial"/>
              </a:rPr>
              <a:t>Pagas solo por la ayuda concreta que necesitas.</a:t>
            </a:r>
            <a:endParaRPr lang="en-US" sz="2550"/>
          </a:p>
        </p:txBody>
      </p:sp>
      <p:sp>
        <p:nvSpPr>
          <p:cNvPr id="238413082" name="Text 7"/>
          <p:cNvSpPr/>
          <p:nvPr/>
        </p:nvSpPr>
        <p:spPr bwMode="auto">
          <a:xfrm>
            <a:off x="9311640" y="3344228"/>
            <a:ext cx="7909560" cy="2933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  <a:defRPr/>
            </a:pPr>
            <a:r>
              <a:rPr lang="en-US" sz="2400">
                <a:solidFill>
                  <a:srgbClr val="F5EDD8"/>
                </a:solidFill>
                <a:latin typeface="-apple-system"/>
                <a:ea typeface="-apple-system"/>
                <a:cs typeface="-apple-system"/>
              </a:rPr>
              <a:t>Speaking dirigido</a:t>
            </a:r>
            <a:endParaRPr lang="en-US" sz="2400"/>
          </a:p>
          <a:p>
            <a:pPr marL="0" indent="0" algn="l">
              <a:lnSpc>
                <a:spcPct val="140000"/>
              </a:lnSpc>
              <a:buNone/>
              <a:defRPr/>
            </a:pPr>
            <a:r>
              <a:rPr lang="en-US" sz="2400">
                <a:solidFill>
                  <a:srgbClr val="F5EDD8"/>
                </a:solidFill>
                <a:latin typeface="-apple-system"/>
                <a:ea typeface="-apple-system"/>
                <a:cs typeface="-apple-system"/>
              </a:rPr>
              <a:t>Entrevista SLP</a:t>
            </a:r>
            <a:endParaRPr lang="en-US" sz="2400"/>
          </a:p>
          <a:p>
            <a:pPr marL="0" indent="0" algn="l">
              <a:lnSpc>
                <a:spcPct val="140000"/>
              </a:lnSpc>
              <a:buNone/>
              <a:defRPr/>
            </a:pPr>
            <a:r>
              <a:rPr lang="en-US" sz="2400">
                <a:solidFill>
                  <a:srgbClr val="F5EDD8"/>
                </a:solidFill>
                <a:latin typeface="-apple-system"/>
                <a:ea typeface="-apple-system"/>
                <a:cs typeface="-apple-system"/>
              </a:rPr>
              <a:t>BORE</a:t>
            </a:r>
            <a:endParaRPr lang="en-US" sz="2400"/>
          </a:p>
          <a:p>
            <a:pPr marL="0" indent="0" algn="l">
              <a:lnSpc>
                <a:spcPct val="140000"/>
              </a:lnSpc>
              <a:buNone/>
              <a:defRPr/>
            </a:pPr>
            <a:r>
              <a:rPr lang="en-US" sz="2400">
                <a:solidFill>
                  <a:srgbClr val="F5EDD8"/>
                </a:solidFill>
                <a:latin typeface="-apple-system"/>
                <a:ea typeface="-apple-system"/>
                <a:cs typeface="-apple-system"/>
              </a:rPr>
              <a:t>Dudas concretas</a:t>
            </a:r>
            <a:endParaRPr lang="en-US" sz="2400"/>
          </a:p>
          <a:p>
            <a:pPr marL="0" indent="0" algn="l">
              <a:lnSpc>
                <a:spcPct val="140000"/>
              </a:lnSpc>
              <a:buNone/>
              <a:defRPr/>
            </a:pPr>
            <a:r>
              <a:rPr lang="en-US" sz="2400">
                <a:solidFill>
                  <a:srgbClr val="F5EDD8"/>
                </a:solidFill>
                <a:latin typeface="-apple-system"/>
                <a:ea typeface="-apple-system"/>
                <a:cs typeface="-apple-system"/>
              </a:rPr>
              <a:t>Refuerzo antes de una prueba</a:t>
            </a:r>
            <a:endParaRPr lang="en-US" sz="2400"/>
          </a:p>
        </p:txBody>
      </p:sp>
      <p:pic>
        <p:nvPicPr>
          <p:cNvPr id="940558802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/>
        </p:blipFill>
        <p:spPr bwMode="auto">
          <a:xfrm>
            <a:off x="14287500" y="2857500"/>
            <a:ext cx="3048000" cy="4572000"/>
          </a:xfrm>
          <a:prstGeom prst="rect">
            <a:avLst/>
          </a:prstGeom>
        </p:spPr>
      </p:pic>
      <p:sp>
        <p:nvSpPr>
          <p:cNvPr id="707294976" name="Text 8"/>
          <p:cNvSpPr/>
          <p:nvPr/>
        </p:nvSpPr>
        <p:spPr bwMode="auto">
          <a:xfrm>
            <a:off x="1143000" y="9646920"/>
            <a:ext cx="209133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324">
                <a:solidFill>
                  <a:srgbClr val="C9A255">
                    <a:alpha val="50000"/>
                  </a:srgbClr>
                </a:solidFill>
                <a:latin typeface="-apple-system"/>
                <a:ea typeface="-apple-system"/>
                <a:cs typeface="-apple-system"/>
              </a:rPr>
              <a:t>QUICKINGLÉS</a:t>
            </a:r>
            <a:endParaRPr lang="en-US" sz="1800"/>
          </a:p>
        </p:txBody>
      </p:sp>
      <p:sp>
        <p:nvSpPr>
          <p:cNvPr id="1467642223" name="Text 9"/>
          <p:cNvSpPr/>
          <p:nvPr/>
        </p:nvSpPr>
        <p:spPr bwMode="auto">
          <a:xfrm>
            <a:off x="14912340" y="9646920"/>
            <a:ext cx="23088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216">
                <a:solidFill>
                  <a:srgbClr val="F5EDD8">
                    <a:alpha val="20000"/>
                  </a:srgbClr>
                </a:solidFill>
                <a:latin typeface="-apple-system"/>
                <a:ea typeface="-apple-system"/>
                <a:cs typeface="-apple-system"/>
              </a:rPr>
              <a:t>PROPUESTA SLP</a:t>
            </a: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08080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0348039" name="Text 0"/>
          <p:cNvSpPr/>
          <p:nvPr/>
        </p:nvSpPr>
        <p:spPr bwMode="auto">
          <a:xfrm>
            <a:off x="1143000" y="857250"/>
            <a:ext cx="1648206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396">
                <a:solidFill>
                  <a:srgbClr val="C9A255"/>
                </a:solidFill>
                <a:latin typeface="Arial"/>
                <a:ea typeface="Arial"/>
                <a:cs typeface="Arial"/>
              </a:rPr>
              <a:t>OPCIÓN 02</a:t>
            </a:r>
            <a:endParaRPr lang="en-US" sz="1800"/>
          </a:p>
        </p:txBody>
      </p:sp>
      <p:sp>
        <p:nvSpPr>
          <p:cNvPr id="394497146" name="Text 1"/>
          <p:cNvSpPr/>
          <p:nvPr/>
        </p:nvSpPr>
        <p:spPr bwMode="auto">
          <a:xfrm>
            <a:off x="1143000" y="1367790"/>
            <a:ext cx="16482060" cy="1519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  <a:defRPr/>
            </a:pPr>
            <a:r>
              <a:rPr lang="en-US" sz="5400" spc="-54">
                <a:solidFill>
                  <a:srgbClr val="F5EDD8"/>
                </a:solidFill>
                <a:latin typeface="Arial"/>
                <a:ea typeface="Arial"/>
                <a:cs typeface="Arial"/>
              </a:rPr>
              <a:t>Preparación estructurada durante </a:t>
            </a:r>
            <a:r>
              <a:rPr lang="en-US" sz="5400" i="1" spc="-54">
                <a:solidFill>
                  <a:srgbClr val="DDB96A"/>
                </a:solidFill>
                <a:latin typeface="Arial"/>
                <a:ea typeface="Arial"/>
                <a:cs typeface="Arial"/>
              </a:rPr>
              <a:t>12 semanas</a:t>
            </a:r>
            <a:endParaRPr lang="en-US" sz="5400"/>
          </a:p>
        </p:txBody>
      </p:sp>
      <p:sp>
        <p:nvSpPr>
          <p:cNvPr id="58193130" name="Text 2"/>
          <p:cNvSpPr/>
          <p:nvPr/>
        </p:nvSpPr>
        <p:spPr bwMode="auto">
          <a:xfrm>
            <a:off x="929640" y="3344228"/>
            <a:ext cx="7909560" cy="3550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  <a:defRPr/>
            </a:pPr>
            <a:r>
              <a:rPr lang="en-US" sz="2400">
                <a:solidFill>
                  <a:srgbClr val="F5EDD8"/>
                </a:solidFill>
                <a:latin typeface="-apple-system"/>
                <a:ea typeface="-apple-system"/>
                <a:cs typeface="-apple-system"/>
              </a:rPr>
              <a:t>Clase semanal</a:t>
            </a:r>
            <a:endParaRPr lang="en-US" sz="2400"/>
          </a:p>
          <a:p>
            <a:pPr marL="0" indent="0" algn="l">
              <a:lnSpc>
                <a:spcPct val="140000"/>
              </a:lnSpc>
              <a:buNone/>
              <a:defRPr/>
            </a:pPr>
            <a:r>
              <a:rPr lang="en-US" sz="2400">
                <a:solidFill>
                  <a:srgbClr val="F5EDD8"/>
                </a:solidFill>
                <a:latin typeface="-apple-system"/>
                <a:ea typeface="-apple-system"/>
                <a:cs typeface="-apple-system"/>
              </a:rPr>
              <a:t>Entrevista SLP y BORE</a:t>
            </a:r>
            <a:endParaRPr lang="en-US" sz="2400"/>
          </a:p>
          <a:p>
            <a:pPr marL="0" indent="0" algn="l">
              <a:lnSpc>
                <a:spcPct val="140000"/>
              </a:lnSpc>
              <a:buNone/>
              <a:defRPr/>
            </a:pPr>
            <a:r>
              <a:rPr lang="en-US" sz="2400">
                <a:solidFill>
                  <a:srgbClr val="F5EDD8"/>
                </a:solidFill>
                <a:latin typeface="-apple-system"/>
                <a:ea typeface="-apple-system"/>
                <a:cs typeface="-apple-system"/>
              </a:rPr>
              <a:t>Speaking guiado y corregido</a:t>
            </a:r>
            <a:endParaRPr lang="en-US" sz="2400"/>
          </a:p>
          <a:p>
            <a:pPr marL="0" indent="0" algn="l">
              <a:lnSpc>
                <a:spcPct val="140000"/>
              </a:lnSpc>
              <a:buNone/>
              <a:defRPr/>
            </a:pPr>
            <a:r>
              <a:rPr lang="en-US" sz="2400">
                <a:solidFill>
                  <a:srgbClr val="F5EDD8"/>
                </a:solidFill>
                <a:latin typeface="-apple-system"/>
                <a:ea typeface="-apple-system"/>
                <a:cs typeface="-apple-system"/>
              </a:rPr>
              <a:t>Writing semanal con feedback</a:t>
            </a:r>
            <a:endParaRPr lang="en-US" sz="2400"/>
          </a:p>
          <a:p>
            <a:pPr marL="0" indent="0" algn="l">
              <a:lnSpc>
                <a:spcPct val="140000"/>
              </a:lnSpc>
              <a:buNone/>
              <a:defRPr/>
            </a:pPr>
            <a:r>
              <a:rPr lang="en-US" sz="2400">
                <a:solidFill>
                  <a:srgbClr val="F5EDD8"/>
                </a:solidFill>
                <a:latin typeface="-apple-system"/>
                <a:ea typeface="-apple-system"/>
                <a:cs typeface="-apple-system"/>
              </a:rPr>
              <a:t>Recursos organizados en Notion</a:t>
            </a:r>
            <a:endParaRPr lang="en-US" sz="2400"/>
          </a:p>
          <a:p>
            <a:pPr marL="0" indent="0" algn="l">
              <a:lnSpc>
                <a:spcPct val="140000"/>
              </a:lnSpc>
              <a:buNone/>
              <a:defRPr/>
            </a:pPr>
            <a:r>
              <a:rPr lang="en-US" sz="2400">
                <a:solidFill>
                  <a:srgbClr val="F5EDD8"/>
                </a:solidFill>
                <a:latin typeface="-apple-system"/>
                <a:ea typeface="-apple-system"/>
                <a:cs typeface="-apple-system"/>
              </a:rPr>
              <a:t>Seguimiento general durante tres meses</a:t>
            </a:r>
            <a:endParaRPr lang="en-US" sz="2400"/>
          </a:p>
        </p:txBody>
      </p:sp>
      <p:sp>
        <p:nvSpPr>
          <p:cNvPr id="879283218" name="Shape 3"/>
          <p:cNvSpPr/>
          <p:nvPr/>
        </p:nvSpPr>
        <p:spPr bwMode="auto">
          <a:xfrm>
            <a:off x="9525000" y="6953250"/>
            <a:ext cx="7620000" cy="2476500"/>
          </a:xfrm>
          <a:prstGeom prst="rect">
            <a:avLst/>
          </a:prstGeom>
          <a:solidFill>
            <a:srgbClr val="C9A255">
              <a:alpha val="5000"/>
            </a:srgbClr>
          </a:solidFill>
          <a:ln w="7620">
            <a:solidFill>
              <a:srgbClr val="C9A255">
                <a:alpha val="35000"/>
              </a:srgbClr>
            </a:solidFill>
            <a:prstDash val="solid"/>
          </a:ln>
        </p:spPr>
      </p:sp>
      <p:sp>
        <p:nvSpPr>
          <p:cNvPr id="419456125" name="Text 4"/>
          <p:cNvSpPr/>
          <p:nvPr/>
        </p:nvSpPr>
        <p:spPr bwMode="auto">
          <a:xfrm>
            <a:off x="9951720" y="7379970"/>
            <a:ext cx="696955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360">
                <a:solidFill>
                  <a:srgbClr val="C9A255"/>
                </a:solidFill>
                <a:latin typeface="-apple-system"/>
                <a:ea typeface="-apple-system"/>
                <a:cs typeface="-apple-system"/>
              </a:rPr>
              <a:t>INVERSIÓN</a:t>
            </a:r>
            <a:endParaRPr lang="en-US" sz="1800"/>
          </a:p>
        </p:txBody>
      </p:sp>
      <p:sp>
        <p:nvSpPr>
          <p:cNvPr id="280170611" name="Text 5"/>
          <p:cNvSpPr/>
          <p:nvPr/>
        </p:nvSpPr>
        <p:spPr bwMode="auto">
          <a:xfrm>
            <a:off x="9951720" y="7753350"/>
            <a:ext cx="6969557" cy="876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6600">
                <a:solidFill>
                  <a:srgbClr val="DDB96A"/>
                </a:solidFill>
                <a:latin typeface="Arial"/>
                <a:ea typeface="Arial"/>
                <a:cs typeface="Arial"/>
              </a:rPr>
              <a:t>300 €</a:t>
            </a:r>
            <a:endParaRPr lang="en-US" sz="6600"/>
          </a:p>
        </p:txBody>
      </p:sp>
      <p:sp>
        <p:nvSpPr>
          <p:cNvPr id="58215513" name="Text 6"/>
          <p:cNvSpPr/>
          <p:nvPr/>
        </p:nvSpPr>
        <p:spPr bwMode="auto">
          <a:xfrm>
            <a:off x="9951720" y="8705850"/>
            <a:ext cx="6969557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950" i="1">
                <a:solidFill>
                  <a:srgbClr val="F5EDD8">
                    <a:alpha val="55000"/>
                  </a:srgbClr>
                </a:solidFill>
                <a:latin typeface="Arial"/>
                <a:ea typeface="Arial"/>
                <a:cs typeface="Arial"/>
              </a:rPr>
              <a:t>Precio especial para exalumnos</a:t>
            </a:r>
            <a:endParaRPr lang="en-US" sz="1950"/>
          </a:p>
        </p:txBody>
      </p:sp>
      <p:sp>
        <p:nvSpPr>
          <p:cNvPr id="979352563" name="Text 7"/>
          <p:cNvSpPr/>
          <p:nvPr/>
        </p:nvSpPr>
        <p:spPr bwMode="auto">
          <a:xfrm>
            <a:off x="1143000" y="9646920"/>
            <a:ext cx="209133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324">
                <a:solidFill>
                  <a:srgbClr val="C9A255">
                    <a:alpha val="50000"/>
                  </a:srgbClr>
                </a:solidFill>
                <a:latin typeface="-apple-system"/>
                <a:ea typeface="-apple-system"/>
                <a:cs typeface="-apple-system"/>
              </a:rPr>
              <a:t>QUICKINGLÉS</a:t>
            </a:r>
            <a:endParaRPr lang="en-US" sz="1800"/>
          </a:p>
        </p:txBody>
      </p:sp>
      <p:sp>
        <p:nvSpPr>
          <p:cNvPr id="82383303" name="Text 8"/>
          <p:cNvSpPr/>
          <p:nvPr/>
        </p:nvSpPr>
        <p:spPr bwMode="auto">
          <a:xfrm>
            <a:off x="14912340" y="9646920"/>
            <a:ext cx="23088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216">
                <a:solidFill>
                  <a:srgbClr val="F5EDD8">
                    <a:alpha val="20000"/>
                  </a:srgbClr>
                </a:solidFill>
                <a:latin typeface="-apple-system"/>
                <a:ea typeface="-apple-system"/>
                <a:cs typeface="-apple-system"/>
              </a:rPr>
              <a:t>PROPUESTA SLP</a:t>
            </a: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08080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162" name="Text 0"/>
          <p:cNvSpPr/>
          <p:nvPr/>
        </p:nvSpPr>
        <p:spPr bwMode="auto">
          <a:xfrm>
            <a:off x="1143000" y="857250"/>
            <a:ext cx="1648206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396">
                <a:solidFill>
                  <a:srgbClr val="C9A255"/>
                </a:solidFill>
                <a:latin typeface="Arial"/>
                <a:ea typeface="Arial"/>
                <a:cs typeface="Arial"/>
              </a:rPr>
              <a:t>DISTRIBUCIÓN DEL TRABAJO</a:t>
            </a:r>
            <a:endParaRPr lang="en-US" sz="1800"/>
          </a:p>
        </p:txBody>
      </p:sp>
      <p:sp>
        <p:nvSpPr>
          <p:cNvPr id="1047658484" name="Text 1"/>
          <p:cNvSpPr/>
          <p:nvPr/>
        </p:nvSpPr>
        <p:spPr bwMode="auto">
          <a:xfrm>
            <a:off x="1143000" y="1367790"/>
            <a:ext cx="1648206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4350">
                <a:solidFill>
                  <a:srgbClr val="F5EDD8"/>
                </a:solidFill>
                <a:latin typeface="Arial"/>
                <a:ea typeface="Arial"/>
                <a:cs typeface="Arial"/>
              </a:rPr>
              <a:t>Cómo se organiza cada semana</a:t>
            </a:r>
            <a:endParaRPr lang="en-US" sz="4350"/>
          </a:p>
        </p:txBody>
      </p:sp>
      <p:sp>
        <p:nvSpPr>
          <p:cNvPr id="991939097" name="Shape 2"/>
          <p:cNvSpPr/>
          <p:nvPr/>
        </p:nvSpPr>
        <p:spPr bwMode="auto">
          <a:xfrm>
            <a:off x="1143000" y="2432685"/>
            <a:ext cx="5156121" cy="6997065"/>
          </a:xfrm>
          <a:prstGeom prst="rect">
            <a:avLst/>
          </a:prstGeom>
          <a:ln w="7620">
            <a:solidFill>
              <a:srgbClr val="C9A255">
                <a:alpha val="35000"/>
              </a:srgbClr>
            </a:solidFill>
            <a:prstDash val="solid"/>
          </a:ln>
        </p:spPr>
      </p:sp>
      <p:sp>
        <p:nvSpPr>
          <p:cNvPr id="1879411160" name="Shape 3"/>
          <p:cNvSpPr/>
          <p:nvPr/>
        </p:nvSpPr>
        <p:spPr bwMode="auto">
          <a:xfrm>
            <a:off x="1150620" y="2440305"/>
            <a:ext cx="5140880" cy="1274445"/>
          </a:xfrm>
          <a:prstGeom prst="rect">
            <a:avLst/>
          </a:prstGeom>
          <a:solidFill>
            <a:srgbClr val="C9A255">
              <a:alpha val="7999"/>
            </a:srgbClr>
          </a:solidFill>
          <a:ln/>
        </p:spPr>
      </p:sp>
      <p:sp>
        <p:nvSpPr>
          <p:cNvPr id="207126748" name="Shape 4"/>
          <p:cNvSpPr/>
          <p:nvPr/>
        </p:nvSpPr>
        <p:spPr bwMode="auto">
          <a:xfrm>
            <a:off x="1150620" y="3707130"/>
            <a:ext cx="5140880" cy="9525"/>
          </a:xfrm>
          <a:prstGeom prst="rect">
            <a:avLst/>
          </a:prstGeom>
          <a:solidFill>
            <a:srgbClr val="C9A255">
              <a:alpha val="35000"/>
            </a:srgbClr>
          </a:solidFill>
          <a:ln/>
        </p:spPr>
      </p:sp>
      <p:sp>
        <p:nvSpPr>
          <p:cNvPr id="363906239" name="Text 5"/>
          <p:cNvSpPr/>
          <p:nvPr/>
        </p:nvSpPr>
        <p:spPr bwMode="auto">
          <a:xfrm>
            <a:off x="1455420" y="2707005"/>
            <a:ext cx="466721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251">
                <a:solidFill>
                  <a:srgbClr val="C9A255"/>
                </a:solidFill>
                <a:latin typeface="-apple-system"/>
                <a:ea typeface="-apple-system"/>
                <a:cs typeface="-apple-system"/>
              </a:rPr>
              <a:t>EN CLASE</a:t>
            </a:r>
            <a:endParaRPr lang="en-US" sz="1800"/>
          </a:p>
        </p:txBody>
      </p:sp>
      <p:sp>
        <p:nvSpPr>
          <p:cNvPr id="356441630" name="Text 6"/>
          <p:cNvSpPr/>
          <p:nvPr/>
        </p:nvSpPr>
        <p:spPr bwMode="auto">
          <a:xfrm>
            <a:off x="1455420" y="3042285"/>
            <a:ext cx="4667219" cy="43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2850">
                <a:solidFill>
                  <a:srgbClr val="F5EDD8"/>
                </a:solidFill>
                <a:latin typeface="Arial"/>
                <a:ea typeface="Arial"/>
                <a:cs typeface="Arial"/>
              </a:rPr>
              <a:t>Clase semanal</a:t>
            </a:r>
            <a:endParaRPr lang="en-US" sz="2850"/>
          </a:p>
        </p:txBody>
      </p:sp>
      <p:sp>
        <p:nvSpPr>
          <p:cNvPr id="1348839330" name="Text 7"/>
          <p:cNvSpPr/>
          <p:nvPr/>
        </p:nvSpPr>
        <p:spPr bwMode="auto">
          <a:xfrm>
            <a:off x="1455420" y="3981450"/>
            <a:ext cx="4667219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Entrevista SLP</a:t>
            </a:r>
            <a:endParaRPr lang="en-US" sz="1950"/>
          </a:p>
        </p:txBody>
      </p:sp>
      <p:sp>
        <p:nvSpPr>
          <p:cNvPr id="1758377843" name="Text 8"/>
          <p:cNvSpPr/>
          <p:nvPr/>
        </p:nvSpPr>
        <p:spPr bwMode="auto">
          <a:xfrm>
            <a:off x="1455420" y="4455795"/>
            <a:ext cx="4667219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BORE</a:t>
            </a:r>
            <a:endParaRPr lang="en-US" sz="1950"/>
          </a:p>
        </p:txBody>
      </p:sp>
      <p:sp>
        <p:nvSpPr>
          <p:cNvPr id="1181815591" name="Text 9"/>
          <p:cNvSpPr/>
          <p:nvPr/>
        </p:nvSpPr>
        <p:spPr bwMode="auto">
          <a:xfrm>
            <a:off x="1455420" y="4930140"/>
            <a:ext cx="4667219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Speaking guiado</a:t>
            </a:r>
            <a:endParaRPr lang="en-US" sz="1950"/>
          </a:p>
        </p:txBody>
      </p:sp>
      <p:sp>
        <p:nvSpPr>
          <p:cNvPr id="73755053" name="Text 10"/>
          <p:cNvSpPr/>
          <p:nvPr/>
        </p:nvSpPr>
        <p:spPr bwMode="auto">
          <a:xfrm>
            <a:off x="1455420" y="5404485"/>
            <a:ext cx="4667219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Corrección directa</a:t>
            </a:r>
            <a:endParaRPr lang="en-US" sz="1950"/>
          </a:p>
        </p:txBody>
      </p:sp>
      <p:sp>
        <p:nvSpPr>
          <p:cNvPr id="884710985" name="Text 11"/>
          <p:cNvSpPr/>
          <p:nvPr/>
        </p:nvSpPr>
        <p:spPr bwMode="auto">
          <a:xfrm>
            <a:off x="1455420" y="5878830"/>
            <a:ext cx="4667219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Estructura de respuestas</a:t>
            </a:r>
            <a:endParaRPr lang="en-US" sz="1950"/>
          </a:p>
        </p:txBody>
      </p:sp>
      <p:sp>
        <p:nvSpPr>
          <p:cNvPr id="1950742537" name="Text 12"/>
          <p:cNvSpPr/>
          <p:nvPr/>
        </p:nvSpPr>
        <p:spPr bwMode="auto">
          <a:xfrm>
            <a:off x="1455420" y="6353175"/>
            <a:ext cx="4667219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Simulacros de entrevista oral</a:t>
            </a:r>
            <a:endParaRPr lang="en-US" sz="1950"/>
          </a:p>
        </p:txBody>
      </p:sp>
      <p:sp>
        <p:nvSpPr>
          <p:cNvPr id="591921835" name="Shape 13"/>
          <p:cNvSpPr/>
          <p:nvPr/>
        </p:nvSpPr>
        <p:spPr bwMode="auto">
          <a:xfrm>
            <a:off x="6565821" y="2432685"/>
            <a:ext cx="5156240" cy="6997065"/>
          </a:xfrm>
          <a:prstGeom prst="rect">
            <a:avLst/>
          </a:prstGeom>
          <a:ln w="7620">
            <a:solidFill>
              <a:srgbClr val="C9A255">
                <a:alpha val="35000"/>
              </a:srgbClr>
            </a:solidFill>
            <a:prstDash val="solid"/>
          </a:ln>
        </p:spPr>
      </p:sp>
      <p:sp>
        <p:nvSpPr>
          <p:cNvPr id="579147940" name="Shape 14"/>
          <p:cNvSpPr/>
          <p:nvPr/>
        </p:nvSpPr>
        <p:spPr bwMode="auto">
          <a:xfrm>
            <a:off x="6573441" y="2440305"/>
            <a:ext cx="5141000" cy="1274445"/>
          </a:xfrm>
          <a:prstGeom prst="rect">
            <a:avLst/>
          </a:prstGeom>
          <a:solidFill>
            <a:srgbClr val="C9A255">
              <a:alpha val="7999"/>
            </a:srgbClr>
          </a:solidFill>
          <a:ln/>
        </p:spPr>
      </p:sp>
      <p:sp>
        <p:nvSpPr>
          <p:cNvPr id="1560636132" name="Shape 15"/>
          <p:cNvSpPr/>
          <p:nvPr/>
        </p:nvSpPr>
        <p:spPr bwMode="auto">
          <a:xfrm>
            <a:off x="6573441" y="3707130"/>
            <a:ext cx="5141000" cy="9525"/>
          </a:xfrm>
          <a:prstGeom prst="rect">
            <a:avLst/>
          </a:prstGeom>
          <a:solidFill>
            <a:srgbClr val="C9A255">
              <a:alpha val="35000"/>
            </a:srgbClr>
          </a:solidFill>
          <a:ln/>
        </p:spPr>
      </p:sp>
      <p:sp>
        <p:nvSpPr>
          <p:cNvPr id="1988524680" name="Text 16"/>
          <p:cNvSpPr/>
          <p:nvPr/>
        </p:nvSpPr>
        <p:spPr bwMode="auto">
          <a:xfrm>
            <a:off x="6878241" y="2707005"/>
            <a:ext cx="466734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251">
                <a:solidFill>
                  <a:srgbClr val="C9A255"/>
                </a:solidFill>
                <a:latin typeface="-apple-system"/>
                <a:ea typeface="-apple-system"/>
                <a:cs typeface="-apple-system"/>
              </a:rPr>
              <a:t>CADA SEMANA</a:t>
            </a:r>
            <a:endParaRPr lang="en-US" sz="1800"/>
          </a:p>
        </p:txBody>
      </p:sp>
      <p:sp>
        <p:nvSpPr>
          <p:cNvPr id="231581300" name="Text 17"/>
          <p:cNvSpPr/>
          <p:nvPr/>
        </p:nvSpPr>
        <p:spPr bwMode="auto">
          <a:xfrm>
            <a:off x="6878241" y="3042285"/>
            <a:ext cx="4667342" cy="43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2850">
                <a:solidFill>
                  <a:srgbClr val="F5EDD8"/>
                </a:solidFill>
                <a:latin typeface="Arial"/>
                <a:ea typeface="Arial"/>
                <a:cs typeface="Arial"/>
              </a:rPr>
              <a:t>Trabajo escrito</a:t>
            </a:r>
            <a:endParaRPr lang="en-US" sz="2850"/>
          </a:p>
        </p:txBody>
      </p:sp>
      <p:sp>
        <p:nvSpPr>
          <p:cNvPr id="411691103" name="Text 18"/>
          <p:cNvSpPr/>
          <p:nvPr/>
        </p:nvSpPr>
        <p:spPr bwMode="auto">
          <a:xfrm>
            <a:off x="6878241" y="3981450"/>
            <a:ext cx="4667342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Writing semanal</a:t>
            </a:r>
            <a:endParaRPr lang="en-US" sz="1950"/>
          </a:p>
        </p:txBody>
      </p:sp>
      <p:sp>
        <p:nvSpPr>
          <p:cNvPr id="979433919" name="Text 19"/>
          <p:cNvSpPr/>
          <p:nvPr/>
        </p:nvSpPr>
        <p:spPr bwMode="auto">
          <a:xfrm>
            <a:off x="6878241" y="4455795"/>
            <a:ext cx="4667342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Feedback y mejora guiada</a:t>
            </a:r>
            <a:endParaRPr lang="en-US" sz="1950"/>
          </a:p>
        </p:txBody>
      </p:sp>
      <p:sp>
        <p:nvSpPr>
          <p:cNvPr id="1778358327" name="Text 20"/>
          <p:cNvSpPr/>
          <p:nvPr/>
        </p:nvSpPr>
        <p:spPr bwMode="auto">
          <a:xfrm>
            <a:off x="6878241" y="4930140"/>
            <a:ext cx="4667342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Vocabulario útil</a:t>
            </a:r>
            <a:endParaRPr lang="en-US" sz="1950"/>
          </a:p>
        </p:txBody>
      </p:sp>
      <p:sp>
        <p:nvSpPr>
          <p:cNvPr id="1034830585" name="Text 21"/>
          <p:cNvSpPr/>
          <p:nvPr/>
        </p:nvSpPr>
        <p:spPr bwMode="auto">
          <a:xfrm>
            <a:off x="6878241" y="5404485"/>
            <a:ext cx="4667342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Tareas de refuerzo</a:t>
            </a:r>
            <a:endParaRPr lang="en-US" sz="1950"/>
          </a:p>
        </p:txBody>
      </p:sp>
      <p:sp>
        <p:nvSpPr>
          <p:cNvPr id="871866919" name="Shape 22"/>
          <p:cNvSpPr/>
          <p:nvPr/>
        </p:nvSpPr>
        <p:spPr bwMode="auto">
          <a:xfrm>
            <a:off x="11988760" y="2432685"/>
            <a:ext cx="5156240" cy="6997065"/>
          </a:xfrm>
          <a:prstGeom prst="rect">
            <a:avLst/>
          </a:prstGeom>
          <a:ln w="7620">
            <a:solidFill>
              <a:srgbClr val="C9A255">
                <a:alpha val="35000"/>
              </a:srgbClr>
            </a:solidFill>
            <a:prstDash val="solid"/>
          </a:ln>
        </p:spPr>
      </p:sp>
      <p:sp>
        <p:nvSpPr>
          <p:cNvPr id="1421646753" name="Shape 23"/>
          <p:cNvSpPr/>
          <p:nvPr/>
        </p:nvSpPr>
        <p:spPr bwMode="auto">
          <a:xfrm>
            <a:off x="11996381" y="2440305"/>
            <a:ext cx="5141000" cy="1274445"/>
          </a:xfrm>
          <a:prstGeom prst="rect">
            <a:avLst/>
          </a:prstGeom>
          <a:solidFill>
            <a:srgbClr val="C9A255">
              <a:alpha val="7999"/>
            </a:srgbClr>
          </a:solidFill>
          <a:ln/>
        </p:spPr>
      </p:sp>
      <p:sp>
        <p:nvSpPr>
          <p:cNvPr id="221314993" name="Shape 24"/>
          <p:cNvSpPr/>
          <p:nvPr/>
        </p:nvSpPr>
        <p:spPr bwMode="auto">
          <a:xfrm>
            <a:off x="11996381" y="3707130"/>
            <a:ext cx="5141000" cy="9525"/>
          </a:xfrm>
          <a:prstGeom prst="rect">
            <a:avLst/>
          </a:prstGeom>
          <a:solidFill>
            <a:srgbClr val="C9A255">
              <a:alpha val="35000"/>
            </a:srgbClr>
          </a:solidFill>
          <a:ln/>
        </p:spPr>
      </p:sp>
      <p:sp>
        <p:nvSpPr>
          <p:cNvPr id="629372428" name="Text 25"/>
          <p:cNvSpPr/>
          <p:nvPr/>
        </p:nvSpPr>
        <p:spPr bwMode="auto">
          <a:xfrm>
            <a:off x="12301181" y="2707005"/>
            <a:ext cx="466734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251">
                <a:solidFill>
                  <a:srgbClr val="C9A255"/>
                </a:solidFill>
                <a:latin typeface="-apple-system"/>
                <a:ea typeface="-apple-system"/>
                <a:cs typeface="-apple-system"/>
              </a:rPr>
              <a:t>ENTRE CLASES</a:t>
            </a:r>
            <a:endParaRPr lang="en-US" sz="1800"/>
          </a:p>
        </p:txBody>
      </p:sp>
      <p:sp>
        <p:nvSpPr>
          <p:cNvPr id="1416083750" name="Text 26"/>
          <p:cNvSpPr/>
          <p:nvPr/>
        </p:nvSpPr>
        <p:spPr bwMode="auto">
          <a:xfrm>
            <a:off x="12301181" y="3042285"/>
            <a:ext cx="4667342" cy="43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2850">
                <a:solidFill>
                  <a:srgbClr val="F5EDD8"/>
                </a:solidFill>
                <a:latin typeface="Arial"/>
                <a:ea typeface="Arial"/>
                <a:cs typeface="Arial"/>
              </a:rPr>
              <a:t>Notion</a:t>
            </a:r>
            <a:endParaRPr lang="en-US" sz="2850"/>
          </a:p>
        </p:txBody>
      </p:sp>
      <p:sp>
        <p:nvSpPr>
          <p:cNvPr id="938983133" name="Text 27"/>
          <p:cNvSpPr/>
          <p:nvPr/>
        </p:nvSpPr>
        <p:spPr bwMode="auto">
          <a:xfrm>
            <a:off x="12301181" y="3981450"/>
            <a:ext cx="4667342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Readings</a:t>
            </a:r>
            <a:endParaRPr lang="en-US" sz="1950"/>
          </a:p>
        </p:txBody>
      </p:sp>
      <p:sp>
        <p:nvSpPr>
          <p:cNvPr id="502704796" name="Text 28"/>
          <p:cNvSpPr/>
          <p:nvPr/>
        </p:nvSpPr>
        <p:spPr bwMode="auto">
          <a:xfrm>
            <a:off x="12301181" y="4455795"/>
            <a:ext cx="4667342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Listenings</a:t>
            </a:r>
            <a:endParaRPr lang="en-US" sz="1950"/>
          </a:p>
        </p:txBody>
      </p:sp>
      <p:sp>
        <p:nvSpPr>
          <p:cNvPr id="1556351403" name="Text 29"/>
          <p:cNvSpPr/>
          <p:nvPr/>
        </p:nvSpPr>
        <p:spPr bwMode="auto">
          <a:xfrm>
            <a:off x="12301181" y="4930140"/>
            <a:ext cx="4667342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Ejercicios de apoyo</a:t>
            </a:r>
            <a:endParaRPr lang="en-US" sz="1950"/>
          </a:p>
        </p:txBody>
      </p:sp>
      <p:sp>
        <p:nvSpPr>
          <p:cNvPr id="2040739527" name="Text 30"/>
          <p:cNvSpPr/>
          <p:nvPr/>
        </p:nvSpPr>
        <p:spPr bwMode="auto">
          <a:xfrm>
            <a:off x="12301181" y="5404485"/>
            <a:ext cx="4667342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Material organizado</a:t>
            </a:r>
            <a:endParaRPr lang="en-US" sz="1950"/>
          </a:p>
        </p:txBody>
      </p:sp>
      <p:sp>
        <p:nvSpPr>
          <p:cNvPr id="1274474421" name="Text 31"/>
          <p:cNvSpPr/>
          <p:nvPr/>
        </p:nvSpPr>
        <p:spPr bwMode="auto">
          <a:xfrm>
            <a:off x="12301181" y="5878830"/>
            <a:ext cx="4667342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Estructuras y ejemplos</a:t>
            </a:r>
            <a:endParaRPr lang="en-US" sz="1950"/>
          </a:p>
        </p:txBody>
      </p:sp>
      <p:sp>
        <p:nvSpPr>
          <p:cNvPr id="364711829" name="Text 32"/>
          <p:cNvSpPr/>
          <p:nvPr/>
        </p:nvSpPr>
        <p:spPr bwMode="auto">
          <a:xfrm>
            <a:off x="1143000" y="9646920"/>
            <a:ext cx="209133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324">
                <a:solidFill>
                  <a:srgbClr val="C9A255">
                    <a:alpha val="50000"/>
                  </a:srgbClr>
                </a:solidFill>
                <a:latin typeface="-apple-system"/>
                <a:ea typeface="-apple-system"/>
                <a:cs typeface="-apple-system"/>
              </a:rPr>
              <a:t>QUICKINGLÉS</a:t>
            </a:r>
            <a:endParaRPr lang="en-US" sz="1800"/>
          </a:p>
        </p:txBody>
      </p:sp>
      <p:sp>
        <p:nvSpPr>
          <p:cNvPr id="1442146829" name="Text 33"/>
          <p:cNvSpPr/>
          <p:nvPr/>
        </p:nvSpPr>
        <p:spPr bwMode="auto">
          <a:xfrm>
            <a:off x="14912340" y="9646920"/>
            <a:ext cx="23088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216">
                <a:solidFill>
                  <a:srgbClr val="F5EDD8">
                    <a:alpha val="20000"/>
                  </a:srgbClr>
                </a:solidFill>
                <a:latin typeface="-apple-system"/>
                <a:ea typeface="-apple-system"/>
                <a:cs typeface="-apple-system"/>
              </a:rPr>
              <a:t>PROPUESTA SLP</a:t>
            </a: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08080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452553" name="Shape 0"/>
          <p:cNvSpPr/>
          <p:nvPr/>
        </p:nvSpPr>
        <p:spPr bwMode="auto">
          <a:xfrm>
            <a:off x="12573000" y="-1905000"/>
            <a:ext cx="7620000" cy="7620000"/>
          </a:xfrm>
          <a:prstGeom prst="ellipse">
            <a:avLst/>
          </a:prstGeom>
          <a:solidFill>
            <a:srgbClr val="C9A255">
              <a:alpha val="5000"/>
            </a:srgbClr>
          </a:solidFill>
          <a:ln/>
        </p:spPr>
      </p:sp>
      <p:sp>
        <p:nvSpPr>
          <p:cNvPr id="209279870" name="Text 1"/>
          <p:cNvSpPr/>
          <p:nvPr/>
        </p:nvSpPr>
        <p:spPr bwMode="auto">
          <a:xfrm>
            <a:off x="1143000" y="2077403"/>
            <a:ext cx="1648206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396">
                <a:solidFill>
                  <a:srgbClr val="C9A255"/>
                </a:solidFill>
                <a:latin typeface="Arial"/>
                <a:ea typeface="Arial"/>
                <a:cs typeface="Arial"/>
              </a:rPr>
              <a:t>RECURSOS · NOTION</a:t>
            </a:r>
            <a:endParaRPr lang="en-US" sz="1800"/>
          </a:p>
        </p:txBody>
      </p:sp>
      <p:sp>
        <p:nvSpPr>
          <p:cNvPr id="857079435" name="Text 2"/>
          <p:cNvSpPr/>
          <p:nvPr/>
        </p:nvSpPr>
        <p:spPr bwMode="auto">
          <a:xfrm>
            <a:off x="1143000" y="2587943"/>
            <a:ext cx="1648206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4350">
                <a:solidFill>
                  <a:srgbClr val="F5EDD8"/>
                </a:solidFill>
                <a:latin typeface="Arial"/>
                <a:ea typeface="Arial"/>
                <a:cs typeface="Arial"/>
              </a:rPr>
              <a:t>Tu base de entrenamiento entre clases</a:t>
            </a:r>
            <a:endParaRPr lang="en-US" sz="4350"/>
          </a:p>
        </p:txBody>
      </p:sp>
      <p:sp>
        <p:nvSpPr>
          <p:cNvPr id="783285712" name="Shape 3"/>
          <p:cNvSpPr/>
          <p:nvPr/>
        </p:nvSpPr>
        <p:spPr bwMode="auto">
          <a:xfrm>
            <a:off x="1143000" y="3690937"/>
            <a:ext cx="5181600" cy="1798320"/>
          </a:xfrm>
          <a:prstGeom prst="rect">
            <a:avLst/>
          </a:prstGeom>
          <a:ln w="7620">
            <a:solidFill>
              <a:srgbClr val="C9A255">
                <a:alpha val="35000"/>
              </a:srgbClr>
            </a:solidFill>
            <a:prstDash val="solid"/>
          </a:ln>
        </p:spPr>
      </p:sp>
      <p:sp>
        <p:nvSpPr>
          <p:cNvPr id="2001538768" name="Text 4"/>
          <p:cNvSpPr/>
          <p:nvPr/>
        </p:nvSpPr>
        <p:spPr bwMode="auto">
          <a:xfrm>
            <a:off x="1417320" y="4003358"/>
            <a:ext cx="4771949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550">
                <a:solidFill>
                  <a:srgbClr val="F5EDD8"/>
                </a:solidFill>
                <a:latin typeface="Arial"/>
                <a:ea typeface="Arial"/>
                <a:cs typeface="Arial"/>
              </a:rPr>
              <a:t>Readings</a:t>
            </a:r>
            <a:endParaRPr lang="en-US" sz="2550"/>
          </a:p>
        </p:txBody>
      </p:sp>
      <p:sp>
        <p:nvSpPr>
          <p:cNvPr id="1582129668" name="Text 5"/>
          <p:cNvSpPr/>
          <p:nvPr/>
        </p:nvSpPr>
        <p:spPr bwMode="auto">
          <a:xfrm>
            <a:off x="1417320" y="4483418"/>
            <a:ext cx="4771949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Textos para practicar comprensión lectora en contexto real.</a:t>
            </a:r>
            <a:endParaRPr lang="en-US" sz="1950"/>
          </a:p>
        </p:txBody>
      </p:sp>
      <p:sp>
        <p:nvSpPr>
          <p:cNvPr id="337133998" name="Shape 6"/>
          <p:cNvSpPr/>
          <p:nvPr/>
        </p:nvSpPr>
        <p:spPr bwMode="auto">
          <a:xfrm>
            <a:off x="6553200" y="3690937"/>
            <a:ext cx="5181600" cy="1798320"/>
          </a:xfrm>
          <a:prstGeom prst="rect">
            <a:avLst/>
          </a:prstGeom>
          <a:ln w="7620">
            <a:solidFill>
              <a:srgbClr val="C9A255">
                <a:alpha val="35000"/>
              </a:srgbClr>
            </a:solidFill>
            <a:prstDash val="solid"/>
          </a:ln>
        </p:spPr>
      </p:sp>
      <p:sp>
        <p:nvSpPr>
          <p:cNvPr id="733700768" name="Text 7"/>
          <p:cNvSpPr/>
          <p:nvPr/>
        </p:nvSpPr>
        <p:spPr bwMode="auto">
          <a:xfrm>
            <a:off x="6827520" y="4003358"/>
            <a:ext cx="4771949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550">
                <a:solidFill>
                  <a:srgbClr val="F5EDD8"/>
                </a:solidFill>
                <a:latin typeface="Arial"/>
                <a:ea typeface="Arial"/>
                <a:cs typeface="Arial"/>
              </a:rPr>
              <a:t>Listenings</a:t>
            </a:r>
            <a:endParaRPr lang="en-US" sz="2550"/>
          </a:p>
        </p:txBody>
      </p:sp>
      <p:sp>
        <p:nvSpPr>
          <p:cNvPr id="1206530924" name="Text 8"/>
          <p:cNvSpPr/>
          <p:nvPr/>
        </p:nvSpPr>
        <p:spPr bwMode="auto">
          <a:xfrm>
            <a:off x="6827520" y="4483418"/>
            <a:ext cx="4771949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Audios para entrenar el oído y la comprensión oral.</a:t>
            </a:r>
            <a:endParaRPr lang="en-US" sz="1950"/>
          </a:p>
        </p:txBody>
      </p:sp>
      <p:sp>
        <p:nvSpPr>
          <p:cNvPr id="1800896578" name="Shape 9"/>
          <p:cNvSpPr/>
          <p:nvPr/>
        </p:nvSpPr>
        <p:spPr bwMode="auto">
          <a:xfrm>
            <a:off x="11963400" y="3690937"/>
            <a:ext cx="5181600" cy="1798320"/>
          </a:xfrm>
          <a:prstGeom prst="rect">
            <a:avLst/>
          </a:prstGeom>
          <a:ln w="7620">
            <a:solidFill>
              <a:srgbClr val="C9A255">
                <a:alpha val="35000"/>
              </a:srgbClr>
            </a:solidFill>
            <a:prstDash val="solid"/>
          </a:ln>
        </p:spPr>
      </p:sp>
      <p:sp>
        <p:nvSpPr>
          <p:cNvPr id="293169338" name="Text 10"/>
          <p:cNvSpPr/>
          <p:nvPr/>
        </p:nvSpPr>
        <p:spPr bwMode="auto">
          <a:xfrm>
            <a:off x="12237720" y="4003358"/>
            <a:ext cx="4771949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550">
                <a:solidFill>
                  <a:srgbClr val="F5EDD8"/>
                </a:solidFill>
                <a:latin typeface="Arial"/>
                <a:ea typeface="Arial"/>
                <a:cs typeface="Arial"/>
              </a:rPr>
              <a:t>Ejercicios</a:t>
            </a:r>
            <a:endParaRPr lang="en-US" sz="2550"/>
          </a:p>
        </p:txBody>
      </p:sp>
      <p:sp>
        <p:nvSpPr>
          <p:cNvPr id="980364281" name="Text 11"/>
          <p:cNvSpPr/>
          <p:nvPr/>
        </p:nvSpPr>
        <p:spPr bwMode="auto">
          <a:xfrm>
            <a:off x="12237720" y="4483418"/>
            <a:ext cx="4771949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Actividades de apoyo organizadas por semanas.</a:t>
            </a:r>
            <a:endParaRPr lang="en-US" sz="1950"/>
          </a:p>
        </p:txBody>
      </p:sp>
      <p:sp>
        <p:nvSpPr>
          <p:cNvPr id="1789352935" name="Shape 12"/>
          <p:cNvSpPr/>
          <p:nvPr/>
        </p:nvSpPr>
        <p:spPr bwMode="auto">
          <a:xfrm>
            <a:off x="1143000" y="5717856"/>
            <a:ext cx="5181600" cy="1798320"/>
          </a:xfrm>
          <a:prstGeom prst="rect">
            <a:avLst/>
          </a:prstGeom>
          <a:ln w="7620">
            <a:solidFill>
              <a:srgbClr val="C9A255">
                <a:alpha val="35000"/>
              </a:srgbClr>
            </a:solidFill>
            <a:prstDash val="solid"/>
          </a:ln>
        </p:spPr>
      </p:sp>
      <p:sp>
        <p:nvSpPr>
          <p:cNvPr id="54840033" name="Text 13"/>
          <p:cNvSpPr/>
          <p:nvPr/>
        </p:nvSpPr>
        <p:spPr bwMode="auto">
          <a:xfrm>
            <a:off x="1417320" y="6030278"/>
            <a:ext cx="4771949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550">
                <a:solidFill>
                  <a:srgbClr val="F5EDD8"/>
                </a:solidFill>
                <a:latin typeface="Arial"/>
                <a:ea typeface="Arial"/>
                <a:cs typeface="Arial"/>
              </a:rPr>
              <a:t>Vocabulario</a:t>
            </a:r>
            <a:endParaRPr lang="en-US" sz="2550"/>
          </a:p>
        </p:txBody>
      </p:sp>
      <p:sp>
        <p:nvSpPr>
          <p:cNvPr id="1695065632" name="Text 14"/>
          <p:cNvSpPr/>
          <p:nvPr/>
        </p:nvSpPr>
        <p:spPr bwMode="auto">
          <a:xfrm>
            <a:off x="1417320" y="6510338"/>
            <a:ext cx="4771949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Léxico militar y profesional útil para el examen.</a:t>
            </a:r>
            <a:endParaRPr lang="en-US" sz="1950"/>
          </a:p>
        </p:txBody>
      </p:sp>
      <p:sp>
        <p:nvSpPr>
          <p:cNvPr id="969561715" name="Shape 15"/>
          <p:cNvSpPr/>
          <p:nvPr/>
        </p:nvSpPr>
        <p:spPr bwMode="auto">
          <a:xfrm>
            <a:off x="6553200" y="5717856"/>
            <a:ext cx="5181600" cy="1798320"/>
          </a:xfrm>
          <a:prstGeom prst="rect">
            <a:avLst/>
          </a:prstGeom>
          <a:ln w="7620">
            <a:solidFill>
              <a:srgbClr val="C9A255">
                <a:alpha val="35000"/>
              </a:srgbClr>
            </a:solidFill>
            <a:prstDash val="solid"/>
          </a:ln>
        </p:spPr>
      </p:sp>
      <p:sp>
        <p:nvSpPr>
          <p:cNvPr id="185451564" name="Text 16"/>
          <p:cNvSpPr/>
          <p:nvPr/>
        </p:nvSpPr>
        <p:spPr bwMode="auto">
          <a:xfrm>
            <a:off x="6827520" y="6030278"/>
            <a:ext cx="4771949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550">
                <a:solidFill>
                  <a:srgbClr val="F5EDD8"/>
                </a:solidFill>
                <a:latin typeface="Arial"/>
                <a:ea typeface="Arial"/>
                <a:cs typeface="Arial"/>
              </a:rPr>
              <a:t>Estructuras</a:t>
            </a:r>
            <a:endParaRPr lang="en-US" sz="2550"/>
          </a:p>
        </p:txBody>
      </p:sp>
      <p:sp>
        <p:nvSpPr>
          <p:cNvPr id="324074477" name="Text 17"/>
          <p:cNvSpPr/>
          <p:nvPr/>
        </p:nvSpPr>
        <p:spPr bwMode="auto">
          <a:xfrm>
            <a:off x="6827520" y="6510338"/>
            <a:ext cx="4771949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Modelos para responder mejor en entrevista y writing.</a:t>
            </a:r>
            <a:endParaRPr lang="en-US" sz="1950"/>
          </a:p>
        </p:txBody>
      </p:sp>
      <p:sp>
        <p:nvSpPr>
          <p:cNvPr id="776506111" name="Shape 18"/>
          <p:cNvSpPr/>
          <p:nvPr/>
        </p:nvSpPr>
        <p:spPr bwMode="auto">
          <a:xfrm>
            <a:off x="11963400" y="5717856"/>
            <a:ext cx="5181600" cy="1798320"/>
          </a:xfrm>
          <a:prstGeom prst="rect">
            <a:avLst/>
          </a:prstGeom>
          <a:ln w="7620">
            <a:solidFill>
              <a:srgbClr val="C9A255">
                <a:alpha val="35000"/>
              </a:srgbClr>
            </a:solidFill>
            <a:prstDash val="solid"/>
          </a:ln>
        </p:spPr>
      </p:sp>
      <p:sp>
        <p:nvSpPr>
          <p:cNvPr id="228347305" name="Text 19"/>
          <p:cNvSpPr/>
          <p:nvPr/>
        </p:nvSpPr>
        <p:spPr bwMode="auto">
          <a:xfrm>
            <a:off x="12237720" y="6030278"/>
            <a:ext cx="4771949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550">
                <a:solidFill>
                  <a:srgbClr val="F5EDD8"/>
                </a:solidFill>
                <a:latin typeface="Arial"/>
                <a:ea typeface="Arial"/>
                <a:cs typeface="Arial"/>
              </a:rPr>
              <a:t>Material de apoyo</a:t>
            </a:r>
            <a:endParaRPr lang="en-US" sz="2550"/>
          </a:p>
        </p:txBody>
      </p:sp>
      <p:sp>
        <p:nvSpPr>
          <p:cNvPr id="1657505582" name="Text 20"/>
          <p:cNvSpPr/>
          <p:nvPr/>
        </p:nvSpPr>
        <p:spPr bwMode="auto">
          <a:xfrm>
            <a:off x="12237720" y="6510338"/>
            <a:ext cx="4771949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Recursos complementarios organizados por semanas.</a:t>
            </a:r>
            <a:endParaRPr lang="en-US" sz="1950"/>
          </a:p>
        </p:txBody>
      </p:sp>
      <p:sp>
        <p:nvSpPr>
          <p:cNvPr id="87194850" name="Text 21"/>
          <p:cNvSpPr/>
          <p:nvPr/>
        </p:nvSpPr>
        <p:spPr bwMode="auto">
          <a:xfrm>
            <a:off x="1143000" y="7859078"/>
            <a:ext cx="1648206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250" i="1">
                <a:solidFill>
                  <a:srgbClr val="F5EDD8">
                    <a:alpha val="55000"/>
                  </a:srgbClr>
                </a:solidFill>
                <a:latin typeface="Arial"/>
                <a:ea typeface="Arial"/>
                <a:cs typeface="Arial"/>
              </a:rPr>
              <a:t>Notion no sustituye la clase: la refuerza y te permite trabajar entre sesiones.</a:t>
            </a:r>
            <a:endParaRPr lang="en-US" sz="2250"/>
          </a:p>
        </p:txBody>
      </p:sp>
      <p:sp>
        <p:nvSpPr>
          <p:cNvPr id="1669747987" name="Text 22"/>
          <p:cNvSpPr/>
          <p:nvPr/>
        </p:nvSpPr>
        <p:spPr bwMode="auto">
          <a:xfrm>
            <a:off x="1143000" y="9646920"/>
            <a:ext cx="209133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324">
                <a:solidFill>
                  <a:srgbClr val="C9A255">
                    <a:alpha val="50000"/>
                  </a:srgbClr>
                </a:solidFill>
                <a:latin typeface="-apple-system"/>
                <a:ea typeface="-apple-system"/>
                <a:cs typeface="-apple-system"/>
              </a:rPr>
              <a:t>QUICKINGLÉS</a:t>
            </a:r>
            <a:endParaRPr lang="en-US" sz="1800"/>
          </a:p>
        </p:txBody>
      </p:sp>
      <p:sp>
        <p:nvSpPr>
          <p:cNvPr id="493883670" name="Text 23"/>
          <p:cNvSpPr/>
          <p:nvPr/>
        </p:nvSpPr>
        <p:spPr bwMode="auto">
          <a:xfrm>
            <a:off x="14912340" y="9646920"/>
            <a:ext cx="23088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216">
                <a:solidFill>
                  <a:srgbClr val="F5EDD8">
                    <a:alpha val="20000"/>
                  </a:srgbClr>
                </a:solidFill>
                <a:latin typeface="-apple-system"/>
                <a:ea typeface="-apple-system"/>
                <a:cs typeface="-apple-system"/>
              </a:rPr>
              <a:t>PROPUESTA SLP</a:t>
            </a: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08080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627727" name="Text 0"/>
          <p:cNvSpPr/>
          <p:nvPr/>
        </p:nvSpPr>
        <p:spPr bwMode="auto">
          <a:xfrm>
            <a:off x="1143000" y="857250"/>
            <a:ext cx="1648206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396">
                <a:solidFill>
                  <a:srgbClr val="C9A255"/>
                </a:solidFill>
                <a:latin typeface="Arial"/>
                <a:ea typeface="Arial"/>
                <a:cs typeface="Arial"/>
              </a:rPr>
              <a:t>HONESTIDAD ANTE TODO</a:t>
            </a:r>
            <a:endParaRPr lang="en-US" sz="1800"/>
          </a:p>
        </p:txBody>
      </p:sp>
      <p:sp>
        <p:nvSpPr>
          <p:cNvPr id="1583941172" name="Text 1"/>
          <p:cNvSpPr/>
          <p:nvPr/>
        </p:nvSpPr>
        <p:spPr bwMode="auto">
          <a:xfrm>
            <a:off x="1143000" y="1367790"/>
            <a:ext cx="1648206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4350">
                <a:solidFill>
                  <a:srgbClr val="F5EDD8"/>
                </a:solidFill>
                <a:latin typeface="Arial"/>
                <a:ea typeface="Arial"/>
                <a:cs typeface="Arial"/>
              </a:rPr>
              <a:t>Lo que </a:t>
            </a:r>
            <a:r>
              <a:rPr lang="en-US" sz="4350" i="1">
                <a:solidFill>
                  <a:srgbClr val="F5EDD8">
                    <a:alpha val="30000"/>
                  </a:srgbClr>
                </a:solidFill>
                <a:latin typeface="Arial"/>
                <a:ea typeface="Arial"/>
                <a:cs typeface="Arial"/>
              </a:rPr>
              <a:t>no </a:t>
            </a:r>
            <a:r>
              <a:rPr lang="en-US" sz="4350">
                <a:solidFill>
                  <a:srgbClr val="F5EDD8"/>
                </a:solidFill>
                <a:latin typeface="Arial"/>
                <a:ea typeface="Arial"/>
                <a:cs typeface="Arial"/>
              </a:rPr>
              <a:t>es. Lo que </a:t>
            </a:r>
            <a:r>
              <a:rPr lang="en-US" sz="4350" i="1">
                <a:solidFill>
                  <a:srgbClr val="F5EDD8"/>
                </a:solidFill>
                <a:latin typeface="Arial"/>
                <a:ea typeface="Arial"/>
                <a:cs typeface="Arial"/>
              </a:rPr>
              <a:t>sí </a:t>
            </a:r>
            <a:r>
              <a:rPr lang="en-US" sz="4350">
                <a:solidFill>
                  <a:srgbClr val="F5EDD8"/>
                </a:solidFill>
                <a:latin typeface="Arial"/>
                <a:ea typeface="Arial"/>
                <a:cs typeface="Arial"/>
              </a:rPr>
              <a:t>es.</a:t>
            </a:r>
            <a:endParaRPr lang="en-US" sz="4350"/>
          </a:p>
        </p:txBody>
      </p:sp>
      <p:sp>
        <p:nvSpPr>
          <p:cNvPr id="2020817909" name="Shape 2"/>
          <p:cNvSpPr/>
          <p:nvPr/>
        </p:nvSpPr>
        <p:spPr bwMode="auto">
          <a:xfrm>
            <a:off x="1143000" y="2920365"/>
            <a:ext cx="7810500" cy="15240"/>
          </a:xfrm>
          <a:prstGeom prst="rect">
            <a:avLst/>
          </a:prstGeom>
          <a:solidFill>
            <a:srgbClr val="F5EDD8">
              <a:alpha val="15000"/>
            </a:srgbClr>
          </a:solidFill>
          <a:ln/>
        </p:spPr>
      </p:sp>
      <p:sp>
        <p:nvSpPr>
          <p:cNvPr id="583232007" name="Text 3"/>
          <p:cNvSpPr/>
          <p:nvPr/>
        </p:nvSpPr>
        <p:spPr bwMode="auto">
          <a:xfrm>
            <a:off x="1143000" y="2470785"/>
            <a:ext cx="804481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396">
                <a:solidFill>
                  <a:srgbClr val="F5EDD8">
                    <a:alpha val="35000"/>
                  </a:srgbClr>
                </a:solidFill>
                <a:latin typeface="-apple-system"/>
                <a:ea typeface="-apple-system"/>
                <a:cs typeface="-apple-system"/>
              </a:rPr>
              <a:t>NO ES</a:t>
            </a:r>
            <a:endParaRPr lang="en-US" sz="1800"/>
          </a:p>
        </p:txBody>
      </p:sp>
      <p:sp>
        <p:nvSpPr>
          <p:cNvPr id="211006763" name="Text 4"/>
          <p:cNvSpPr/>
          <p:nvPr/>
        </p:nvSpPr>
        <p:spPr bwMode="auto">
          <a:xfrm>
            <a:off x="1143000" y="3126105"/>
            <a:ext cx="804481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2400">
                <a:solidFill>
                  <a:srgbClr val="F5EDD8">
                    <a:alpha val="40000"/>
                  </a:srgbClr>
                </a:solidFill>
                <a:latin typeface="-apple-system"/>
                <a:ea typeface="-apple-system"/>
                <a:cs typeface="-apple-system"/>
              </a:rPr>
              <a:t>Una academia genérica de SLP</a:t>
            </a:r>
            <a:endParaRPr lang="en-US" sz="2400"/>
          </a:p>
        </p:txBody>
      </p:sp>
      <p:sp>
        <p:nvSpPr>
          <p:cNvPr id="915322321" name="Text 5"/>
          <p:cNvSpPr/>
          <p:nvPr/>
        </p:nvSpPr>
        <p:spPr bwMode="auto">
          <a:xfrm>
            <a:off x="1143000" y="3712845"/>
            <a:ext cx="804481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2400">
                <a:solidFill>
                  <a:srgbClr val="F5EDD8">
                    <a:alpha val="40000"/>
                  </a:srgbClr>
                </a:solidFill>
                <a:latin typeface="-apple-system"/>
                <a:ea typeface="-apple-system"/>
                <a:cs typeface="-apple-system"/>
              </a:rPr>
              <a:t>Un banco de simulacros completos del examen</a:t>
            </a:r>
            <a:endParaRPr lang="en-US" sz="2400"/>
          </a:p>
        </p:txBody>
      </p:sp>
      <p:sp>
        <p:nvSpPr>
          <p:cNvPr id="1875688617" name="Text 6"/>
          <p:cNvSpPr/>
          <p:nvPr/>
        </p:nvSpPr>
        <p:spPr bwMode="auto">
          <a:xfrm>
            <a:off x="1143000" y="4299585"/>
            <a:ext cx="804481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2400">
                <a:solidFill>
                  <a:srgbClr val="F5EDD8">
                    <a:alpha val="40000"/>
                  </a:srgbClr>
                </a:solidFill>
                <a:latin typeface="-apple-system"/>
                <a:ea typeface="-apple-system"/>
                <a:cs typeface="-apple-system"/>
              </a:rPr>
              <a:t>Un curso en grupo</a:t>
            </a:r>
            <a:endParaRPr lang="en-US" sz="2400"/>
          </a:p>
        </p:txBody>
      </p:sp>
      <p:sp>
        <p:nvSpPr>
          <p:cNvPr id="948997192" name="Text 7"/>
          <p:cNvSpPr/>
          <p:nvPr/>
        </p:nvSpPr>
        <p:spPr bwMode="auto">
          <a:xfrm>
            <a:off x="1143000" y="4886325"/>
            <a:ext cx="804481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2400">
                <a:solidFill>
                  <a:srgbClr val="F5EDD8">
                    <a:alpha val="40000"/>
                  </a:srgbClr>
                </a:solidFill>
                <a:latin typeface="-apple-system"/>
                <a:ea typeface="-apple-system"/>
                <a:cs typeface="-apple-system"/>
              </a:rPr>
              <a:t>Un curso lleno de teoría</a:t>
            </a:r>
            <a:endParaRPr lang="en-US" sz="2400"/>
          </a:p>
        </p:txBody>
      </p:sp>
      <p:sp>
        <p:nvSpPr>
          <p:cNvPr id="324953976" name="Shape 8"/>
          <p:cNvSpPr/>
          <p:nvPr/>
        </p:nvSpPr>
        <p:spPr bwMode="auto">
          <a:xfrm>
            <a:off x="9334500" y="2920365"/>
            <a:ext cx="7810500" cy="15240"/>
          </a:xfrm>
          <a:prstGeom prst="rect">
            <a:avLst/>
          </a:prstGeom>
          <a:solidFill>
            <a:srgbClr val="C9A255"/>
          </a:solidFill>
          <a:ln/>
        </p:spPr>
      </p:sp>
      <p:sp>
        <p:nvSpPr>
          <p:cNvPr id="1138309500" name="Text 9"/>
          <p:cNvSpPr/>
          <p:nvPr/>
        </p:nvSpPr>
        <p:spPr bwMode="auto">
          <a:xfrm>
            <a:off x="9334500" y="2470785"/>
            <a:ext cx="804481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396">
                <a:solidFill>
                  <a:srgbClr val="C9A255"/>
                </a:solidFill>
                <a:latin typeface="-apple-system"/>
                <a:ea typeface="-apple-system"/>
                <a:cs typeface="-apple-system"/>
              </a:rPr>
              <a:t>SÍ ES</a:t>
            </a:r>
            <a:endParaRPr lang="en-US" sz="1800"/>
          </a:p>
        </p:txBody>
      </p:sp>
      <p:sp>
        <p:nvSpPr>
          <p:cNvPr id="1432140459" name="Text 10"/>
          <p:cNvSpPr/>
          <p:nvPr/>
        </p:nvSpPr>
        <p:spPr bwMode="auto">
          <a:xfrm>
            <a:off x="9334500" y="3126105"/>
            <a:ext cx="804481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2400">
                <a:solidFill>
                  <a:srgbClr val="F5EDD8"/>
                </a:solidFill>
                <a:latin typeface="-apple-system"/>
                <a:ea typeface="-apple-system"/>
                <a:cs typeface="-apple-system"/>
              </a:rPr>
              <a:t>Preparación práctica de speaking</a:t>
            </a:r>
            <a:endParaRPr lang="en-US" sz="2400"/>
          </a:p>
        </p:txBody>
      </p:sp>
      <p:sp>
        <p:nvSpPr>
          <p:cNvPr id="317811990" name="Text 11"/>
          <p:cNvSpPr/>
          <p:nvPr/>
        </p:nvSpPr>
        <p:spPr bwMode="auto">
          <a:xfrm>
            <a:off x="9334500" y="3712845"/>
            <a:ext cx="804481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2400">
                <a:solidFill>
                  <a:srgbClr val="F5EDD8"/>
                </a:solidFill>
                <a:latin typeface="-apple-system"/>
                <a:ea typeface="-apple-system"/>
                <a:cs typeface="-apple-system"/>
              </a:rPr>
              <a:t>Entrenamiento de entrevista 1:1 SLP y BORE</a:t>
            </a:r>
            <a:endParaRPr lang="en-US" sz="2400"/>
          </a:p>
        </p:txBody>
      </p:sp>
      <p:sp>
        <p:nvSpPr>
          <p:cNvPr id="417188883" name="Text 12"/>
          <p:cNvSpPr/>
          <p:nvPr/>
        </p:nvSpPr>
        <p:spPr bwMode="auto">
          <a:xfrm>
            <a:off x="9334500" y="4299585"/>
            <a:ext cx="804481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2400">
                <a:solidFill>
                  <a:srgbClr val="F5EDD8"/>
                </a:solidFill>
                <a:latin typeface="-apple-system"/>
                <a:ea typeface="-apple-system"/>
                <a:cs typeface="-apple-system"/>
              </a:rPr>
              <a:t>Writing semanal con corrección</a:t>
            </a:r>
            <a:endParaRPr lang="en-US" sz="2400"/>
          </a:p>
        </p:txBody>
      </p:sp>
      <p:sp>
        <p:nvSpPr>
          <p:cNvPr id="342137251" name="Text 13"/>
          <p:cNvSpPr/>
          <p:nvPr/>
        </p:nvSpPr>
        <p:spPr bwMode="auto">
          <a:xfrm>
            <a:off x="9334500" y="4886325"/>
            <a:ext cx="804481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2400">
                <a:solidFill>
                  <a:srgbClr val="F5EDD8"/>
                </a:solidFill>
                <a:latin typeface="-apple-system"/>
                <a:ea typeface="-apple-system"/>
                <a:cs typeface="-apple-system"/>
              </a:rPr>
              <a:t>Corrección directa en clase</a:t>
            </a:r>
            <a:endParaRPr lang="en-US" sz="2400"/>
          </a:p>
        </p:txBody>
      </p:sp>
      <p:sp>
        <p:nvSpPr>
          <p:cNvPr id="962704038" name="Text 14"/>
          <p:cNvSpPr/>
          <p:nvPr/>
        </p:nvSpPr>
        <p:spPr bwMode="auto">
          <a:xfrm>
            <a:off x="9334500" y="5473065"/>
            <a:ext cx="804481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2400">
                <a:solidFill>
                  <a:srgbClr val="F5EDD8"/>
                </a:solidFill>
                <a:latin typeface="-apple-system"/>
                <a:ea typeface="-apple-system"/>
                <a:cs typeface="-apple-system"/>
              </a:rPr>
              <a:t>Recursos organizados en Notion</a:t>
            </a:r>
            <a:endParaRPr lang="en-US" sz="2400"/>
          </a:p>
        </p:txBody>
      </p:sp>
      <p:sp>
        <p:nvSpPr>
          <p:cNvPr id="329764988" name="Text 15"/>
          <p:cNvSpPr/>
          <p:nvPr/>
        </p:nvSpPr>
        <p:spPr bwMode="auto">
          <a:xfrm>
            <a:off x="9334500" y="6059804"/>
            <a:ext cx="8044815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2400">
                <a:solidFill>
                  <a:srgbClr val="F5EDD8"/>
                </a:solidFill>
                <a:latin typeface="-apple-system"/>
                <a:ea typeface="-apple-system"/>
                <a:cs typeface="-apple-system"/>
              </a:rPr>
              <a:t>Método, estructura y repetición</a:t>
            </a:r>
            <a:endParaRPr lang="en-US" sz="2400"/>
          </a:p>
        </p:txBody>
      </p:sp>
      <p:sp>
        <p:nvSpPr>
          <p:cNvPr id="18775073" name="Text 16"/>
          <p:cNvSpPr/>
          <p:nvPr/>
        </p:nvSpPr>
        <p:spPr bwMode="auto">
          <a:xfrm>
            <a:off x="1143000" y="9646920"/>
            <a:ext cx="209133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324">
                <a:solidFill>
                  <a:srgbClr val="C9A255">
                    <a:alpha val="50000"/>
                  </a:srgbClr>
                </a:solidFill>
                <a:latin typeface="-apple-system"/>
                <a:ea typeface="-apple-system"/>
                <a:cs typeface="-apple-system"/>
              </a:rPr>
              <a:t>QUICKINGLÉS</a:t>
            </a:r>
            <a:endParaRPr lang="en-US" sz="1800"/>
          </a:p>
        </p:txBody>
      </p:sp>
      <p:sp>
        <p:nvSpPr>
          <p:cNvPr id="1958840511" name="Text 17"/>
          <p:cNvSpPr/>
          <p:nvPr/>
        </p:nvSpPr>
        <p:spPr bwMode="auto">
          <a:xfrm>
            <a:off x="14912340" y="9646920"/>
            <a:ext cx="23088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216">
                <a:solidFill>
                  <a:srgbClr val="F5EDD8">
                    <a:alpha val="20000"/>
                  </a:srgbClr>
                </a:solidFill>
                <a:latin typeface="-apple-system"/>
                <a:ea typeface="-apple-system"/>
                <a:cs typeface="-apple-system"/>
              </a:rPr>
              <a:t>PROPUESTA SLP</a:t>
            </a: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08080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7688181" name="Shape 0"/>
          <p:cNvSpPr/>
          <p:nvPr/>
        </p:nvSpPr>
        <p:spPr bwMode="auto">
          <a:xfrm>
            <a:off x="12573000" y="-1905000"/>
            <a:ext cx="7620000" cy="7620000"/>
          </a:xfrm>
          <a:prstGeom prst="ellipse">
            <a:avLst/>
          </a:prstGeom>
          <a:solidFill>
            <a:srgbClr val="C9A255">
              <a:alpha val="5000"/>
            </a:srgbClr>
          </a:solidFill>
          <a:ln/>
        </p:spPr>
      </p:sp>
      <p:sp>
        <p:nvSpPr>
          <p:cNvPr id="1422982330" name="Text 1"/>
          <p:cNvSpPr/>
          <p:nvPr/>
        </p:nvSpPr>
        <p:spPr bwMode="auto">
          <a:xfrm>
            <a:off x="1143000" y="857250"/>
            <a:ext cx="495970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396">
                <a:solidFill>
                  <a:srgbClr val="C9A255"/>
                </a:solidFill>
                <a:latin typeface="Arial"/>
                <a:ea typeface="Arial"/>
                <a:cs typeface="Arial"/>
              </a:rPr>
              <a:t>PROGRAMA SLP · 12 SEMANAS</a:t>
            </a:r>
            <a:endParaRPr lang="en-US" sz="1800"/>
          </a:p>
        </p:txBody>
      </p:sp>
      <p:sp>
        <p:nvSpPr>
          <p:cNvPr id="2121324367" name="Text 2"/>
          <p:cNvSpPr/>
          <p:nvPr/>
        </p:nvSpPr>
        <p:spPr bwMode="auto">
          <a:xfrm>
            <a:off x="1143000" y="1604010"/>
            <a:ext cx="1793558" cy="1699260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25399" tIns="25399" rIns="25399" bIns="25399" numCol="1" spcCol="0" rtlCol="0" fromWordArt="0" anchor="t" anchorCtr="0" forceAA="0" upright="0" compatLnSpc="0">
            <a:normAutofit fontScale="80000" lnSpcReduction="4000"/>
          </a:bodyPr>
          <a:lstStyle/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10800" spc="-324">
                <a:solidFill>
                  <a:srgbClr val="DDB96A"/>
                </a:solidFill>
                <a:latin typeface="Arial"/>
                <a:ea typeface="Arial"/>
                <a:cs typeface="Arial"/>
              </a:rPr>
              <a:t>3</a:t>
            </a:r>
            <a:r>
              <a:rPr lang="es-ES" sz="10800" spc="-324">
                <a:solidFill>
                  <a:srgbClr val="DDB96A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sz="10800" spc="-324">
                <a:solidFill>
                  <a:srgbClr val="DDB96A"/>
                </a:solidFill>
                <a:latin typeface="Arial"/>
                <a:ea typeface="Arial"/>
                <a:cs typeface="Arial"/>
              </a:rPr>
              <a:t>0</a:t>
            </a:r>
            <a:endParaRPr lang="en-US" sz="10800"/>
          </a:p>
        </p:txBody>
      </p:sp>
      <p:sp>
        <p:nvSpPr>
          <p:cNvPr id="574595980" name="Text 3"/>
          <p:cNvSpPr/>
          <p:nvPr/>
        </p:nvSpPr>
        <p:spPr bwMode="auto">
          <a:xfrm>
            <a:off x="2974657" y="1845720"/>
            <a:ext cx="523518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6000">
                <a:solidFill>
                  <a:srgbClr val="C9A255"/>
                </a:solidFill>
                <a:latin typeface="Arial"/>
                <a:ea typeface="Arial"/>
                <a:cs typeface="Arial"/>
              </a:rPr>
              <a:t>€</a:t>
            </a:r>
            <a:endParaRPr lang="en-US" sz="6000"/>
          </a:p>
        </p:txBody>
      </p:sp>
      <p:sp>
        <p:nvSpPr>
          <p:cNvPr id="2008059702" name="Text 4"/>
          <p:cNvSpPr/>
          <p:nvPr/>
        </p:nvSpPr>
        <p:spPr bwMode="auto">
          <a:xfrm>
            <a:off x="1143000" y="3272790"/>
            <a:ext cx="788784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27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PRECIO ESPECIAL PARA EXALUMNOS · 12 SEMANAS</a:t>
            </a:r>
            <a:endParaRPr lang="en-US" sz="1800"/>
          </a:p>
        </p:txBody>
      </p:sp>
      <p:sp>
        <p:nvSpPr>
          <p:cNvPr id="653050603" name="Text 5"/>
          <p:cNvSpPr/>
          <p:nvPr/>
        </p:nvSpPr>
        <p:spPr bwMode="auto">
          <a:xfrm>
            <a:off x="1143000" y="3798570"/>
            <a:ext cx="386543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Clase semanal 1:1</a:t>
            </a:r>
            <a:endParaRPr lang="en-US" sz="1950"/>
          </a:p>
        </p:txBody>
      </p:sp>
      <p:sp>
        <p:nvSpPr>
          <p:cNvPr id="506127885" name="Text 6"/>
          <p:cNvSpPr/>
          <p:nvPr/>
        </p:nvSpPr>
        <p:spPr bwMode="auto">
          <a:xfrm>
            <a:off x="5048250" y="3798570"/>
            <a:ext cx="386543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Writing semanal</a:t>
            </a:r>
            <a:endParaRPr lang="en-US" sz="1950"/>
          </a:p>
        </p:txBody>
      </p:sp>
      <p:sp>
        <p:nvSpPr>
          <p:cNvPr id="1926769195" name="Text 7"/>
          <p:cNvSpPr/>
          <p:nvPr/>
        </p:nvSpPr>
        <p:spPr bwMode="auto">
          <a:xfrm>
            <a:off x="1143000" y="4232910"/>
            <a:ext cx="386543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Entrevista SLP</a:t>
            </a:r>
            <a:endParaRPr lang="en-US" sz="1950"/>
          </a:p>
        </p:txBody>
      </p:sp>
      <p:sp>
        <p:nvSpPr>
          <p:cNvPr id="1601596023" name="Text 8"/>
          <p:cNvSpPr/>
          <p:nvPr/>
        </p:nvSpPr>
        <p:spPr bwMode="auto">
          <a:xfrm>
            <a:off x="5048250" y="4232910"/>
            <a:ext cx="386543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BORE</a:t>
            </a:r>
            <a:endParaRPr lang="en-US" sz="1950"/>
          </a:p>
        </p:txBody>
      </p:sp>
      <p:sp>
        <p:nvSpPr>
          <p:cNvPr id="588251714" name="Text 9"/>
          <p:cNvSpPr/>
          <p:nvPr/>
        </p:nvSpPr>
        <p:spPr bwMode="auto">
          <a:xfrm>
            <a:off x="1143000" y="4667250"/>
            <a:ext cx="386543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Simulacros de entrevista oral</a:t>
            </a:r>
            <a:endParaRPr lang="en-US" sz="1950"/>
          </a:p>
        </p:txBody>
      </p:sp>
      <p:sp>
        <p:nvSpPr>
          <p:cNvPr id="41206993" name="Text 10"/>
          <p:cNvSpPr/>
          <p:nvPr/>
        </p:nvSpPr>
        <p:spPr bwMode="auto">
          <a:xfrm>
            <a:off x="5048250" y="4667250"/>
            <a:ext cx="386543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Recursos en Notion</a:t>
            </a:r>
            <a:endParaRPr lang="en-US" sz="1950"/>
          </a:p>
        </p:txBody>
      </p:sp>
      <p:sp>
        <p:nvSpPr>
          <p:cNvPr id="200791810" name="Text 11"/>
          <p:cNvSpPr/>
          <p:nvPr/>
        </p:nvSpPr>
        <p:spPr bwMode="auto">
          <a:xfrm>
            <a:off x="1143000" y="5101590"/>
            <a:ext cx="386543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Seguimiento 3 meses</a:t>
            </a:r>
            <a:endParaRPr lang="en-US" sz="1950"/>
          </a:p>
        </p:txBody>
      </p:sp>
      <p:sp>
        <p:nvSpPr>
          <p:cNvPr id="1067326406" name="Text 12"/>
          <p:cNvSpPr/>
          <p:nvPr/>
        </p:nvSpPr>
        <p:spPr bwMode="auto">
          <a:xfrm>
            <a:off x="1143000" y="8682990"/>
            <a:ext cx="7887843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  <a:defRPr/>
            </a:pPr>
            <a:r>
              <a:rPr lang="en-US" sz="2100" i="1">
                <a:solidFill>
                  <a:srgbClr val="F5EDD8">
                    <a:alpha val="55000"/>
                  </a:srgbClr>
                </a:solidFill>
                <a:latin typeface="Arial"/>
                <a:ea typeface="Arial"/>
                <a:cs typeface="Arial"/>
              </a:rPr>
              <a:t>"Practicar con estructura cada semana marca la diferencia."</a:t>
            </a:r>
            <a:endParaRPr lang="en-US" sz="2100"/>
          </a:p>
        </p:txBody>
      </p:sp>
      <p:sp>
        <p:nvSpPr>
          <p:cNvPr id="1335498486" name="Text 13"/>
          <p:cNvSpPr/>
          <p:nvPr/>
        </p:nvSpPr>
        <p:spPr bwMode="auto">
          <a:xfrm>
            <a:off x="9486900" y="1748790"/>
            <a:ext cx="788784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360">
                <a:solidFill>
                  <a:srgbClr val="C9A255"/>
                </a:solidFill>
                <a:latin typeface="-apple-system"/>
                <a:ea typeface="-apple-system"/>
                <a:cs typeface="-apple-system"/>
              </a:rPr>
              <a:t>¿QUÉ OPCIÓN ES LA TUYA?</a:t>
            </a:r>
            <a:endParaRPr lang="en-US" sz="1800"/>
          </a:p>
        </p:txBody>
      </p:sp>
      <p:sp>
        <p:nvSpPr>
          <p:cNvPr id="229892510" name="Shape 14"/>
          <p:cNvSpPr/>
          <p:nvPr/>
        </p:nvSpPr>
        <p:spPr bwMode="auto">
          <a:xfrm>
            <a:off x="9486900" y="2274570"/>
            <a:ext cx="3714750" cy="6431280"/>
          </a:xfrm>
          <a:prstGeom prst="rect">
            <a:avLst/>
          </a:prstGeom>
          <a:ln w="7620">
            <a:solidFill>
              <a:srgbClr val="C9A255">
                <a:alpha val="35000"/>
              </a:srgbClr>
            </a:solidFill>
            <a:prstDash val="solid"/>
          </a:ln>
        </p:spPr>
      </p:sp>
      <p:sp>
        <p:nvSpPr>
          <p:cNvPr id="617875093" name="Text 15"/>
          <p:cNvSpPr/>
          <p:nvPr/>
        </p:nvSpPr>
        <p:spPr bwMode="auto">
          <a:xfrm>
            <a:off x="9761220" y="2586990"/>
            <a:ext cx="326109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324">
                <a:solidFill>
                  <a:srgbClr val="C9A255"/>
                </a:solidFill>
                <a:latin typeface="-apple-system"/>
                <a:ea typeface="-apple-system"/>
                <a:cs typeface="-apple-system"/>
              </a:rPr>
              <a:t>OPCIÓN 01</a:t>
            </a:r>
            <a:endParaRPr lang="en-US" sz="1800"/>
          </a:p>
        </p:txBody>
      </p:sp>
      <p:sp>
        <p:nvSpPr>
          <p:cNvPr id="413871312" name="Text 16"/>
          <p:cNvSpPr/>
          <p:nvPr/>
        </p:nvSpPr>
        <p:spPr bwMode="auto">
          <a:xfrm>
            <a:off x="9761220" y="2960370"/>
            <a:ext cx="3261093" cy="750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2550">
                <a:solidFill>
                  <a:srgbClr val="F5EDD8"/>
                </a:solidFill>
                <a:latin typeface="Arial"/>
                <a:ea typeface="Arial"/>
                <a:cs typeface="Arial"/>
              </a:rPr>
              <a:t>Horas sueltas · 20 €/hora</a:t>
            </a:r>
            <a:endParaRPr lang="en-US" sz="2550"/>
          </a:p>
        </p:txBody>
      </p:sp>
      <p:sp>
        <p:nvSpPr>
          <p:cNvPr id="1761061225" name="Text 17"/>
          <p:cNvSpPr/>
          <p:nvPr/>
        </p:nvSpPr>
        <p:spPr bwMode="auto">
          <a:xfrm>
            <a:off x="9761220" y="3901440"/>
            <a:ext cx="3261093" cy="1424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Si tienes una duda concreta, quieres práctica puntual o necesitas refuerzo antes de una prueba.</a:t>
            </a:r>
            <a:endParaRPr lang="en-US" sz="1950"/>
          </a:p>
        </p:txBody>
      </p:sp>
      <p:sp>
        <p:nvSpPr>
          <p:cNvPr id="806485289" name="Shape 18"/>
          <p:cNvSpPr/>
          <p:nvPr/>
        </p:nvSpPr>
        <p:spPr bwMode="auto">
          <a:xfrm>
            <a:off x="13430250" y="2274570"/>
            <a:ext cx="3714750" cy="6431280"/>
          </a:xfrm>
          <a:prstGeom prst="rect">
            <a:avLst/>
          </a:prstGeom>
          <a:solidFill>
            <a:srgbClr val="C9A255">
              <a:alpha val="6000"/>
            </a:srgbClr>
          </a:solidFill>
          <a:ln w="7620">
            <a:solidFill>
              <a:srgbClr val="C9A255"/>
            </a:solidFill>
            <a:prstDash val="solid"/>
          </a:ln>
        </p:spPr>
      </p:sp>
      <p:sp>
        <p:nvSpPr>
          <p:cNvPr id="178575183" name="Text 19"/>
          <p:cNvSpPr/>
          <p:nvPr/>
        </p:nvSpPr>
        <p:spPr bwMode="auto">
          <a:xfrm>
            <a:off x="13704570" y="2586990"/>
            <a:ext cx="326109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324">
                <a:solidFill>
                  <a:srgbClr val="C9A255"/>
                </a:solidFill>
                <a:latin typeface="-apple-system"/>
                <a:ea typeface="-apple-system"/>
                <a:cs typeface="-apple-system"/>
              </a:rPr>
              <a:t>OPCIÓN 02</a:t>
            </a:r>
            <a:endParaRPr lang="en-US" sz="1800"/>
          </a:p>
        </p:txBody>
      </p:sp>
      <p:sp>
        <p:nvSpPr>
          <p:cNvPr id="757104440" name="Text 20"/>
          <p:cNvSpPr/>
          <p:nvPr/>
        </p:nvSpPr>
        <p:spPr bwMode="auto">
          <a:xfrm>
            <a:off x="13704570" y="2960370"/>
            <a:ext cx="3261093" cy="750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  <a:defRPr/>
            </a:pPr>
            <a:r>
              <a:rPr lang="en-US" sz="2550">
                <a:solidFill>
                  <a:srgbClr val="F5EDD8"/>
                </a:solidFill>
                <a:latin typeface="Arial"/>
                <a:ea typeface="Arial"/>
                <a:cs typeface="Arial"/>
              </a:rPr>
              <a:t>Programa 12 semanas</a:t>
            </a:r>
            <a:endParaRPr lang="en-US" sz="2550"/>
          </a:p>
        </p:txBody>
      </p:sp>
      <p:sp>
        <p:nvSpPr>
          <p:cNvPr id="1929057960" name="Text 21"/>
          <p:cNvSpPr/>
          <p:nvPr/>
        </p:nvSpPr>
        <p:spPr bwMode="auto">
          <a:xfrm>
            <a:off x="13704570" y="3901440"/>
            <a:ext cx="3261093" cy="1424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  <a:defRPr/>
            </a:pPr>
            <a:r>
              <a:rPr lang="en-US" sz="1950">
                <a:solidFill>
                  <a:srgbClr val="F5EDD8">
                    <a:alpha val="55000"/>
                  </a:srgbClr>
                </a:solidFill>
                <a:latin typeface="-apple-system"/>
                <a:ea typeface="-apple-system"/>
                <a:cs typeface="-apple-system"/>
              </a:rPr>
              <a:t>Si quieres preparación estructurada, clase semanal 1:1, writing y seguimiento durante tres meses.</a:t>
            </a:r>
            <a:endParaRPr lang="en-US" sz="1950"/>
          </a:p>
        </p:txBody>
      </p:sp>
      <p:sp>
        <p:nvSpPr>
          <p:cNvPr id="845181118" name="Shape 22"/>
          <p:cNvSpPr/>
          <p:nvPr/>
        </p:nvSpPr>
        <p:spPr bwMode="auto">
          <a:xfrm>
            <a:off x="9486900" y="8934450"/>
            <a:ext cx="7658100" cy="9525"/>
          </a:xfrm>
          <a:prstGeom prst="rect">
            <a:avLst/>
          </a:prstGeom>
          <a:solidFill>
            <a:srgbClr val="C9A255">
              <a:alpha val="35000"/>
            </a:srgbClr>
          </a:solidFill>
          <a:ln/>
        </p:spPr>
      </p:sp>
      <p:sp>
        <p:nvSpPr>
          <p:cNvPr id="640003095" name="Text 23"/>
          <p:cNvSpPr/>
          <p:nvPr/>
        </p:nvSpPr>
        <p:spPr bwMode="auto">
          <a:xfrm>
            <a:off x="9486900" y="9132570"/>
            <a:ext cx="788784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950" i="1">
                <a:solidFill>
                  <a:srgbClr val="F5EDD8">
                    <a:alpha val="55000"/>
                  </a:srgbClr>
                </a:solidFill>
                <a:latin typeface="Arial"/>
                <a:ea typeface="Arial"/>
                <a:cs typeface="Arial"/>
              </a:rPr>
              <a:t>Puedes combinar ambas opciones si necesitas refuerzo puntual extra.</a:t>
            </a:r>
            <a:endParaRPr lang="en-US" sz="1950"/>
          </a:p>
        </p:txBody>
      </p:sp>
      <p:sp>
        <p:nvSpPr>
          <p:cNvPr id="1619936112" name="Text 24"/>
          <p:cNvSpPr/>
          <p:nvPr/>
        </p:nvSpPr>
        <p:spPr bwMode="auto">
          <a:xfrm>
            <a:off x="1143000" y="9646920"/>
            <a:ext cx="209133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324">
                <a:solidFill>
                  <a:srgbClr val="C9A255">
                    <a:alpha val="50000"/>
                  </a:srgbClr>
                </a:solidFill>
                <a:latin typeface="-apple-system"/>
                <a:ea typeface="-apple-system"/>
                <a:cs typeface="-apple-system"/>
              </a:rPr>
              <a:t>QUICKINGLÉS</a:t>
            </a:r>
            <a:endParaRPr lang="en-US" sz="1800"/>
          </a:p>
        </p:txBody>
      </p:sp>
      <p:sp>
        <p:nvSpPr>
          <p:cNvPr id="1802349706" name="Text 25"/>
          <p:cNvSpPr/>
          <p:nvPr/>
        </p:nvSpPr>
        <p:spPr bwMode="auto">
          <a:xfrm>
            <a:off x="14912340" y="9646920"/>
            <a:ext cx="23088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216">
                <a:solidFill>
                  <a:srgbClr val="F5EDD8">
                    <a:alpha val="20000"/>
                  </a:srgbClr>
                </a:solidFill>
                <a:latin typeface="-apple-system"/>
                <a:ea typeface="-apple-system"/>
                <a:cs typeface="-apple-system"/>
              </a:rPr>
              <a:t>PROPUESTA SLP</a:t>
            </a: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08080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6643536" name="Shape 0"/>
          <p:cNvSpPr/>
          <p:nvPr/>
        </p:nvSpPr>
        <p:spPr bwMode="auto">
          <a:xfrm>
            <a:off x="12573000" y="-1905000"/>
            <a:ext cx="7620000" cy="7620000"/>
          </a:xfrm>
          <a:prstGeom prst="ellipse">
            <a:avLst/>
          </a:prstGeom>
          <a:solidFill>
            <a:srgbClr val="C9A255">
              <a:alpha val="5000"/>
            </a:srgbClr>
          </a:solidFill>
          <a:ln/>
        </p:spPr>
      </p:sp>
      <p:sp>
        <p:nvSpPr>
          <p:cNvPr id="524366110" name="Shape 1"/>
          <p:cNvSpPr/>
          <p:nvPr/>
        </p:nvSpPr>
        <p:spPr bwMode="auto">
          <a:xfrm>
            <a:off x="-1428750" y="6000750"/>
            <a:ext cx="5715000" cy="5715000"/>
          </a:xfrm>
          <a:prstGeom prst="ellipse">
            <a:avLst/>
          </a:prstGeom>
          <a:solidFill>
            <a:srgbClr val="C9A255">
              <a:alpha val="3999"/>
            </a:srgbClr>
          </a:solidFill>
          <a:ln/>
        </p:spPr>
      </p:sp>
      <p:sp>
        <p:nvSpPr>
          <p:cNvPr id="1672824256" name="Text 2"/>
          <p:cNvSpPr/>
          <p:nvPr/>
        </p:nvSpPr>
        <p:spPr bwMode="auto">
          <a:xfrm>
            <a:off x="1143000" y="857250"/>
            <a:ext cx="293697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396">
                <a:solidFill>
                  <a:srgbClr val="C9A255"/>
                </a:solidFill>
                <a:latin typeface="Arial"/>
                <a:ea typeface="Arial"/>
                <a:cs typeface="Arial"/>
              </a:rPr>
              <a:t>PRÓXIMOS PASOS</a:t>
            </a:r>
            <a:endParaRPr lang="en-US" sz="1800"/>
          </a:p>
        </p:txBody>
      </p:sp>
      <p:sp>
        <p:nvSpPr>
          <p:cNvPr id="614106379" name="Text 3"/>
          <p:cNvSpPr/>
          <p:nvPr/>
        </p:nvSpPr>
        <p:spPr bwMode="auto">
          <a:xfrm flipH="0" flipV="0">
            <a:off x="1143000" y="1710689"/>
            <a:ext cx="6534462" cy="990599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25399" tIns="25399" rIns="25399" bIns="25399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 algn="l">
              <a:lnSpc>
                <a:spcPct val="125000"/>
              </a:lnSpc>
              <a:buNone/>
              <a:defRPr/>
            </a:pPr>
            <a:r>
              <a:rPr lang="en-US" sz="3000">
                <a:solidFill>
                  <a:srgbClr val="F5EDD8"/>
                </a:solidFill>
                <a:latin typeface="Arial"/>
                <a:ea typeface="Arial"/>
                <a:cs typeface="Arial"/>
              </a:rPr>
              <a:t>Escríbeme por </a:t>
            </a:r>
            <a:r>
              <a:rPr lang="en-US" sz="3000" i="1">
                <a:solidFill>
                  <a:srgbClr val="DDB96A"/>
                </a:solidFill>
                <a:latin typeface="Arial"/>
                <a:ea typeface="Arial"/>
                <a:cs typeface="Arial"/>
              </a:rPr>
              <a:t>WhatsApp </a:t>
            </a:r>
            <a:r>
              <a:rPr lang="en-US" sz="3000">
                <a:solidFill>
                  <a:srgbClr val="F5EDD8"/>
                </a:solidFill>
                <a:latin typeface="Arial"/>
                <a:ea typeface="Arial"/>
                <a:cs typeface="Arial"/>
              </a:rPr>
              <a:t>y vemos qué opción encaja</a:t>
            </a:r>
            <a:r>
              <a:rPr lang="es-ES" sz="3000">
                <a:solidFill>
                  <a:srgbClr val="F5EDD8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000">
                <a:solidFill>
                  <a:srgbClr val="F5EDD8"/>
                </a:solidFill>
                <a:latin typeface="Arial"/>
                <a:ea typeface="Arial"/>
                <a:cs typeface="Arial"/>
              </a:rPr>
              <a:t>mejor contigo.</a:t>
            </a:r>
            <a:endParaRPr lang="en-US" sz="3000"/>
          </a:p>
        </p:txBody>
      </p:sp>
      <p:sp>
        <p:nvSpPr>
          <p:cNvPr id="1699624315" name="Text 4"/>
          <p:cNvSpPr/>
          <p:nvPr/>
        </p:nvSpPr>
        <p:spPr bwMode="auto">
          <a:xfrm>
            <a:off x="1143000" y="3272790"/>
            <a:ext cx="170795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360">
                <a:solidFill>
                  <a:srgbClr val="C9A255"/>
                </a:solidFill>
                <a:latin typeface="-apple-system"/>
                <a:ea typeface="-apple-system"/>
                <a:cs typeface="-apple-system"/>
              </a:rPr>
              <a:t>WHATSAPP</a:t>
            </a:r>
            <a:endParaRPr lang="en-US" sz="1800"/>
          </a:p>
        </p:txBody>
      </p:sp>
      <p:sp>
        <p:nvSpPr>
          <p:cNvPr id="1956040036" name="Text 5"/>
          <p:cNvSpPr/>
          <p:nvPr/>
        </p:nvSpPr>
        <p:spPr bwMode="auto">
          <a:xfrm flipH="0" flipV="0">
            <a:off x="1143000" y="3608069"/>
            <a:ext cx="2276227" cy="403859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400">
                <a:solidFill>
                  <a:srgbClr val="F5EDD8"/>
                </a:solidFill>
                <a:latin typeface="Arial"/>
                <a:ea typeface="Arial"/>
                <a:cs typeface="Arial"/>
              </a:rPr>
              <a:t>611 855 072</a:t>
            </a:r>
            <a:endParaRPr lang="en-US" sz="2400"/>
          </a:p>
        </p:txBody>
      </p:sp>
      <p:sp>
        <p:nvSpPr>
          <p:cNvPr id="735980773" name="Shape 6"/>
          <p:cNvSpPr/>
          <p:nvPr/>
        </p:nvSpPr>
        <p:spPr bwMode="auto">
          <a:xfrm>
            <a:off x="3346252" y="3337560"/>
            <a:ext cx="9525" cy="571500"/>
          </a:xfrm>
          <a:prstGeom prst="rect">
            <a:avLst/>
          </a:prstGeom>
          <a:solidFill>
            <a:srgbClr val="C9A255">
              <a:alpha val="35000"/>
            </a:srgbClr>
          </a:solidFill>
          <a:ln/>
        </p:spPr>
      </p:sp>
      <p:sp>
        <p:nvSpPr>
          <p:cNvPr id="1579045736" name="Text 7"/>
          <p:cNvSpPr/>
          <p:nvPr/>
        </p:nvSpPr>
        <p:spPr bwMode="auto">
          <a:xfrm>
            <a:off x="3927277" y="3272790"/>
            <a:ext cx="317941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800" spc="360">
                <a:solidFill>
                  <a:srgbClr val="C9A255"/>
                </a:solidFill>
                <a:latin typeface="-apple-system"/>
                <a:ea typeface="-apple-system"/>
                <a:cs typeface="-apple-system"/>
              </a:rPr>
              <a:t>EMAIL</a:t>
            </a:r>
            <a:endParaRPr lang="en-US" sz="1800"/>
          </a:p>
        </p:txBody>
      </p:sp>
      <p:sp>
        <p:nvSpPr>
          <p:cNvPr id="1214579900" name="Text 8"/>
          <p:cNvSpPr/>
          <p:nvPr/>
        </p:nvSpPr>
        <p:spPr bwMode="auto">
          <a:xfrm flipH="0" flipV="0">
            <a:off x="3927276" y="3608069"/>
            <a:ext cx="4016325" cy="403859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2400">
                <a:solidFill>
                  <a:srgbClr val="F5EDD8"/>
                </a:solidFill>
                <a:latin typeface="Arial"/>
                <a:ea typeface="Arial"/>
                <a:cs typeface="Arial"/>
              </a:rPr>
              <a:t>quickingles.sp@gmail.com</a:t>
            </a:r>
            <a:endParaRPr lang="en-US" sz="2400"/>
          </a:p>
        </p:txBody>
      </p:sp>
      <p:sp>
        <p:nvSpPr>
          <p:cNvPr id="520971543" name="Text 9"/>
          <p:cNvSpPr/>
          <p:nvPr/>
        </p:nvSpPr>
        <p:spPr bwMode="auto">
          <a:xfrm flipH="0" flipV="0">
            <a:off x="1143000" y="5338706"/>
            <a:ext cx="5556440" cy="662043"/>
          </a:xfrm>
          <a:prstGeom prst="rect">
            <a:avLst/>
          </a:prstGeom>
          <a:noFill/>
          <a:ln/>
        </p:spPr>
        <p:txBody>
          <a:bodyPr wrap="square" lIns="25399" tIns="25399" rIns="25399" bIns="25399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en-US" sz="1950" i="1">
                <a:solidFill>
                  <a:srgbClr val="F5EDD8">
                    <a:alpha val="55000"/>
                  </a:srgbClr>
                </a:solidFill>
                <a:latin typeface="Arial"/>
                <a:ea typeface="Arial"/>
                <a:cs typeface="Arial"/>
              </a:rPr>
              <a:t>Horas sueltas o programa de 12 semanas — te ayudo a decidir.</a:t>
            </a:r>
            <a:endParaRPr lang="en-US" sz="1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2</cp:revision>
  <dcterms:created xsi:type="dcterms:W3CDTF">2026-04-28T14:47:10Z</dcterms:created>
  <dcterms:modified xsi:type="dcterms:W3CDTF">2026-04-28T14:55:13Z</dcterms:modified>
</cp:coreProperties>
</file>